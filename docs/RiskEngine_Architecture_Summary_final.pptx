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BE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3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In traditional finance, stress testing is an overnight batch affair. When a market crisis breaks during trading hours, risk managers are blind to the exact tail-risk impact. RiskEngine replaces batch latency with sub-second, event-driven crisis simulation.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Here is our containerized tri-service microservices architecture: a React 18 single-page app, a Spring Boot 3 Java 21 core risk engine, and a Python FastAPI NLP sidecar. Real-time Server-Sent Events push stress revaluations to the frontend instantly without polling.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Our engine does not just apply flat hair-cuts. It rigorously prices 200 multi-asset positions: equities via beta and sector overrides, bonds via modified duration and spread widening, loans via Basel III Expected Loss, and derivatives using Black-Scholes Greeks.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We solved several complex engineering hurdles during development: eliminating identical valuation flatlines through headline market sensitivity jitter, preventing SSE race conditions during high-frequency replays, and providing a robust fallback classifier when external news APIs lag.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Platform performance has been rigorously benchmarked: a complete 200-position stress run executes in under 200 milliseconds, with 100% test pass rate across all 15 test suites and verified Docker Compose deployment.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In conclusion, RiskEngine provides institutional-grade risk visibility today and is architected to scale into Monte Carlo simulations, FRTB regulatory compliance, and distributed cluster processing. 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isk_engine_summar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risk_engine_summar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en-US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en-US"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en-US"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en-US"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en-US"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en-US"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en-US"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en-US"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en-US"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en-US"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lang="en-US"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en-US"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en-US"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en-US"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en-US"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en-US"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en-US"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en-US"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en-US"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6267450"/>
            <a:ext cx="112014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95300" y="1749624"/>
            <a:ext cx="3238500" cy="4355285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770018" y="1752995"/>
            <a:ext cx="2501949" cy="4351914"/>
          </a:xfrm>
          <a:prstGeom prst="roundRect">
            <a:avLst>
              <a:gd name="adj" fmla="val 45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510092" y="1749623"/>
            <a:ext cx="2501949" cy="4355285"/>
          </a:xfrm>
          <a:prstGeom prst="roundRect">
            <a:avLst>
              <a:gd name="adj" fmla="val 45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209356" y="1752995"/>
            <a:ext cx="2501949" cy="4351913"/>
          </a:xfrm>
          <a:prstGeom prst="roundRect">
            <a:avLst>
              <a:gd name="adj" fmla="val 45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5300" y="626745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53584" y="316899"/>
            <a:ext cx="1919287" cy="276225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275" y="4810125"/>
            <a:ext cx="2876550" cy="121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38488" y="425977"/>
            <a:ext cx="76200" cy="76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652" y="4339109"/>
            <a:ext cx="28765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6901" y="4420730"/>
            <a:ext cx="1400175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139755" y="4420730"/>
            <a:ext cx="1400175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753" y="1888960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436" y="1868684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873" y="1875943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2954" y="1960310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962" y="1940122"/>
            <a:ext cx="123825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1572" y="1940121"/>
            <a:ext cx="104775" cy="1238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582275" y="400050"/>
            <a:ext cx="14001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64748B"/>
                </a:solidFill>
                <a:latin typeface="JetBrains Mono"/>
              </a:rPr>
              <a:t>SLIDE 01 / 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300" y="714375"/>
            <a:ext cx="7941918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800" b="1" spc="-22" dirty="0" err="1">
                <a:solidFill>
                  <a:schemeClr val="accent1"/>
                </a:solidFill>
              </a:rPr>
              <a:t>RiskEngine</a:t>
            </a:r>
            <a:r>
              <a:rPr lang="en-US" sz="2800" b="1" spc="-22" dirty="0">
                <a:solidFill>
                  <a:schemeClr val="accent1"/>
                </a:solidFill>
              </a:rPr>
              <a:t> : Portfolio Stress Testing &amp;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300" y="1163835"/>
            <a:ext cx="4738477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100" b="1" dirty="0">
                <a:solidFill>
                  <a:schemeClr val="accent2"/>
                </a:solidFill>
              </a:rPr>
              <a:t>Sub-Second Multi-Asset Crisis Simulation &amp; AI News Signal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300" y="6372225"/>
            <a:ext cx="446596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Plus Jakarta Sans"/>
              </a:rPr>
              <a:t>S&amp;P Global &amp; CRISIL Campus Hackathon 2026 | Candidate: </a:t>
            </a:r>
            <a:r>
              <a:rPr sz="900" dirty="0">
                <a:solidFill>
                  <a:srgbClr val="64748B"/>
                </a:solidFill>
                <a:latin typeface="Plus Jakarta Sans"/>
              </a:rPr>
              <a:t>Aryan Yadav</a:t>
            </a:r>
            <a:r>
              <a:rPr sz="900" b="0" i="0" u="none" dirty="0">
                <a:solidFill>
                  <a:srgbClr val="64748B"/>
                </a:solidFill>
                <a:latin typeface="Plus Jakarta Sans"/>
              </a:rPr>
              <a:t> (b324007@iiit-bh.ac.in)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372225"/>
            <a:ext cx="1476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Module B: Risk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175" y="1951892"/>
            <a:ext cx="2971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2563EB"/>
                </a:solidFill>
              </a:rPr>
              <a:t>Candidate &amp; Project Specification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9592" y="391917"/>
            <a:ext cx="1245534" cy="126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0" b="1" i="0" u="none" dirty="0">
                <a:solidFill>
                  <a:srgbClr val="15803D"/>
                </a:solidFill>
              </a:rPr>
              <a:t>MODULE B: RISK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223" y="2486593"/>
            <a:ext cx="2971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</a:rPr>
              <a:t>Candidate &amp; Affiliation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175" y="3488784"/>
            <a:ext cx="2971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</a:rPr>
              <a:t>Campus 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80753" y="2186285"/>
            <a:ext cx="2235249" cy="488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 dirty="0">
                <a:solidFill>
                  <a:srgbClr val="64748B"/>
                </a:solidFill>
              </a:rPr>
              <a:t>Continuous news feed ingestion across GDELT and financial channels with zero-lag taxonomy extraction.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1524" y="2221101"/>
            <a:ext cx="2235249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 dirty="0">
                <a:solidFill>
                  <a:srgbClr val="64748B"/>
                </a:solidFill>
              </a:rPr>
              <a:t>Rigorous mathematical revaluation across 200 portfolio positions with $1.76B monitored base value.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5874" y="2214908"/>
            <a:ext cx="2235249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0" i="0" u="none" dirty="0">
                <a:solidFill>
                  <a:srgbClr val="64748B"/>
                </a:solidFill>
              </a:rPr>
              <a:t>Interactive dashboard with live valuation path, loss attribution heatmaps, and financial 'Why Drawer'.</a:t>
            </a:r>
            <a:endParaRPr sz="900" b="0" i="0" u="none" dirty="0">
              <a:solidFill>
                <a:srgbClr val="64748B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8175" y="2902458"/>
            <a:ext cx="1200008" cy="2388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00" b="1" dirty="0">
                <a:solidFill>
                  <a:srgbClr val="0F172A"/>
                </a:solidFill>
              </a:rPr>
              <a:t>Aryan Yadav</a:t>
            </a:r>
            <a:endParaRPr sz="1600" b="1" i="0" u="none" dirty="0">
              <a:solidFill>
                <a:srgbClr val="0F172A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8175" y="3185909"/>
            <a:ext cx="125047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2563EB"/>
                </a:solidFill>
              </a:rPr>
              <a:t>IIIT Bhubaneswar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175" y="3748831"/>
            <a:ext cx="212237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</a:rPr>
              <a:t>b324007@iiit-bh.ac.in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151" y="4496930"/>
            <a:ext cx="130492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64748B"/>
                </a:solidFill>
              </a:rPr>
              <a:t>Submission Track </a:t>
            </a:r>
            <a:r>
              <a:rPr sz="1000" b="1" i="0" u="none" dirty="0">
                <a:solidFill>
                  <a:srgbClr val="1E293B"/>
                </a:solidFill>
              </a:rPr>
              <a:t>Module B: Risk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08526" y="4496930"/>
            <a:ext cx="13049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64748B"/>
                </a:solidFill>
              </a:rPr>
              <a:t>Portfolio Scope </a:t>
            </a:r>
            <a:r>
              <a:rPr sz="1000" b="1" i="0" u="none" dirty="0">
                <a:solidFill>
                  <a:srgbClr val="15803D"/>
                </a:solidFill>
              </a:rPr>
              <a:t>$1.76B Multi-Asset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6700" y="5217157"/>
            <a:ext cx="13049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64748B"/>
                </a:solidFill>
              </a:rPr>
              <a:t>Pipeline Latency </a:t>
            </a:r>
            <a:r>
              <a:rPr sz="1000" b="1" i="0" u="none" dirty="0">
                <a:solidFill>
                  <a:srgbClr val="2563EB"/>
                </a:solidFill>
              </a:rPr>
              <a:t>Sub-200ms Verified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8676" y="1903391"/>
            <a:ext cx="159338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</a:rPr>
              <a:t>AI Signal Ingestion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2101" y="1903391"/>
            <a:ext cx="161973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</a:rPr>
              <a:t>Multi-Asset Pricing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60416" y="1900615"/>
            <a:ext cx="166616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</a:rPr>
              <a:t>Real-Time Analytics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80753" y="2917106"/>
            <a:ext cx="1811393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chemeClr val="accent2"/>
                </a:solidFill>
              </a:rPr>
              <a:t>8 Event Taxonomies Classified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878" y="3125875"/>
            <a:ext cx="223524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</a:rPr>
              <a:t>Geopolitical, Macro, Credit, Cyber, Disaster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80753" y="3421229"/>
            <a:ext cx="1833835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00" b="1" i="0" u="none" dirty="0">
                <a:solidFill>
                  <a:schemeClr val="accent2"/>
                </a:solidFill>
              </a:rPr>
              <a:t>Severity Impact Scoring (1-10)</a:t>
            </a:r>
            <a:endParaRPr sz="1000" b="1" i="0" u="none" dirty="0">
              <a:solidFill>
                <a:schemeClr val="accent2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980753" y="3642292"/>
            <a:ext cx="223524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</a:rPr>
              <a:t>Market velocity, sentiment, entity relevance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80753" y="3954741"/>
            <a:ext cx="1734449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chemeClr val="accent2"/>
                </a:solidFill>
              </a:rPr>
              <a:t>30-Min Intelligent Debounce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0753" y="4160201"/>
            <a:ext cx="22352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</a:rPr>
              <a:t>Suppresses duplicate noise, upgrades on 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1524" y="2902458"/>
            <a:ext cx="1792157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chemeClr val="accent3"/>
                </a:solidFill>
              </a:rPr>
              <a:t>Equities Beta &amp; Sector Shocks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07898" y="3116659"/>
            <a:ext cx="1952458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</a:rPr>
              <a:t>Market beta scaling + sector overrides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1524" y="3420307"/>
            <a:ext cx="1864293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chemeClr val="accent3"/>
                </a:solidFill>
              </a:rPr>
              <a:t>Bond Duration &amp; Spread Shifts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1523" y="3597145"/>
            <a:ext cx="2235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</a:rPr>
              <a:t>Modified duration + rating tier spread curves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1524" y="3954741"/>
            <a:ext cx="1609415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chemeClr val="accent3"/>
                </a:solidFill>
              </a:rPr>
              <a:t>Basel III Expected Loss (EL)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44347" y="4160201"/>
            <a:ext cx="22352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</a:rPr>
              <a:t>EL = EAD × PD × LGD with rating migrations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84666" y="2900493"/>
            <a:ext cx="1793761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7030A0"/>
                </a:solidFill>
              </a:rPr>
              <a:t>Sub-200ms Execution Latency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84666" y="3085326"/>
            <a:ext cx="2235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</a:rPr>
              <a:t>Instant recalculation across all 200 instruments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5874" y="3465611"/>
            <a:ext cx="2055050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7030A0"/>
                </a:solidFill>
              </a:rPr>
              <a:t>Dual Valuation &amp; Drawdown View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75873" y="3650266"/>
            <a:ext cx="2235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00" b="0" i="0" u="none" dirty="0">
                <a:solidFill>
                  <a:srgbClr val="475569"/>
                </a:solidFill>
              </a:rPr>
              <a:t>Dynamic curves with baseline benchmark line</a:t>
            </a:r>
            <a:endParaRPr sz="900" b="0" i="0" u="none" dirty="0">
              <a:solidFill>
                <a:srgbClr val="475569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384666" y="4026745"/>
            <a:ext cx="1412246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7030A0"/>
                </a:solidFill>
              </a:rPr>
              <a:t>Reactive SSE Streaming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84665" y="4213279"/>
            <a:ext cx="223524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75569"/>
                </a:solidFill>
              </a:rPr>
              <a:t>Live browser push without polling overhead</a:t>
            </a:r>
          </a:p>
        </p:txBody>
      </p:sp>
      <p:grpSp>
        <p:nvGrpSpPr>
          <p:cNvPr id="77" name="nav-category">
            <a:extLst>
              <a:ext uri="{FF2B5EF4-FFF2-40B4-BE49-F238E27FC236}">
                <a16:creationId xmlns:a16="http://schemas.microsoft.com/office/drawing/2014/main" id="{930BEFD8-7854-D320-7572-61FF1271482C}"/>
              </a:ext>
            </a:extLst>
          </p:cNvPr>
          <p:cNvGrpSpPr/>
          <p:nvPr/>
        </p:nvGrpSpPr>
        <p:grpSpPr>
          <a:xfrm>
            <a:off x="495300" y="342900"/>
            <a:ext cx="2381250" cy="247650"/>
            <a:chOff x="476250" y="333375"/>
            <a:chExt cx="2381250" cy="247650"/>
          </a:xfrm>
        </p:grpSpPr>
        <p:sp>
          <p:nvSpPr>
            <p:cNvPr id="78" name="Rectangle 5">
              <a:extLst>
                <a:ext uri="{FF2B5EF4-FFF2-40B4-BE49-F238E27FC236}">
                  <a16:creationId xmlns:a16="http://schemas.microsoft.com/office/drawing/2014/main" id="{949E0B02-CC52-1C09-347F-1A98F48FF5D4}"/>
                </a:ext>
              </a:extLst>
            </p:cNvPr>
            <p:cNvSpPr/>
            <p:nvPr/>
          </p:nvSpPr>
          <p:spPr>
            <a:xfrm>
              <a:off x="476250" y="333375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>
              <a:solidFill>
                <a:schemeClr val="dk1"/>
              </a:solidFill>
            </a:ln>
          </p:spPr>
        </p:sp>
        <p:sp>
          <p:nvSpPr>
            <p:cNvPr id="79" name="Ellipse 6">
              <a:extLst>
                <a:ext uri="{FF2B5EF4-FFF2-40B4-BE49-F238E27FC236}">
                  <a16:creationId xmlns:a16="http://schemas.microsoft.com/office/drawing/2014/main" id="{7E5F92E5-61B2-B967-0F3C-1C621623A69A}"/>
                </a:ext>
              </a:extLst>
            </p:cNvPr>
            <p:cNvSpPr/>
            <p:nvPr/>
          </p:nvSpPr>
          <p:spPr>
            <a:xfrm>
              <a:off x="581025" y="4191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80" name="TextBox 7">
              <a:extLst>
                <a:ext uri="{FF2B5EF4-FFF2-40B4-BE49-F238E27FC236}">
                  <a16:creationId xmlns:a16="http://schemas.microsoft.com/office/drawing/2014/main" id="{61260B8E-5B61-F436-35A2-9BD7620DE9EF}"/>
                </a:ext>
              </a:extLst>
            </p:cNvPr>
            <p:cNvSpPr txBox="1"/>
            <p:nvPr/>
          </p:nvSpPr>
          <p:spPr>
            <a:xfrm>
              <a:off x="738188" y="393700"/>
              <a:ext cx="17438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38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ENTERPRISE RISK PLATFORM</a:t>
              </a:r>
            </a:p>
          </p:txBody>
        </p:sp>
      </p:grpSp>
      <p:grpSp>
        <p:nvGrpSpPr>
          <p:cNvPr id="82" name="cover-lead">
            <a:extLst>
              <a:ext uri="{FF2B5EF4-FFF2-40B4-BE49-F238E27FC236}">
                <a16:creationId xmlns:a16="http://schemas.microsoft.com/office/drawing/2014/main" id="{ECB9752F-9B83-521C-F66D-60345F6A30BA}"/>
              </a:ext>
            </a:extLst>
          </p:cNvPr>
          <p:cNvGrpSpPr/>
          <p:nvPr/>
        </p:nvGrpSpPr>
        <p:grpSpPr>
          <a:xfrm>
            <a:off x="497044" y="1407843"/>
            <a:ext cx="7667164" cy="169277"/>
            <a:chOff x="497044" y="1407843"/>
            <a:chExt cx="7667164" cy="169277"/>
          </a:xfrm>
        </p:grpSpPr>
        <p:sp>
          <p:nvSpPr>
            <p:cNvPr id="83" name="TextBox 12">
              <a:extLst>
                <a:ext uri="{FF2B5EF4-FFF2-40B4-BE49-F238E27FC236}">
                  <a16:creationId xmlns:a16="http://schemas.microsoft.com/office/drawing/2014/main" id="{186DF548-3C02-06C3-C0A8-83078264917E}"/>
                </a:ext>
              </a:extLst>
            </p:cNvPr>
            <p:cNvSpPr txBox="1"/>
            <p:nvPr/>
          </p:nvSpPr>
          <p:spPr>
            <a:xfrm>
              <a:off x="497044" y="1407843"/>
              <a:ext cx="7667164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 institutional platform bridging breaking macro headlines, AI inference, and dynamic multi-asset loss attribution.</a:t>
              </a:r>
            </a:p>
          </p:txBody>
        </p:sp>
      </p:grpSp>
      <p:sp>
        <p:nvSpPr>
          <p:cNvPr id="84" name="Rectangle 3">
            <a:extLst>
              <a:ext uri="{FF2B5EF4-FFF2-40B4-BE49-F238E27FC236}">
                <a16:creationId xmlns:a16="http://schemas.microsoft.com/office/drawing/2014/main" id="{1625B159-D29B-041A-1482-65013C7939AA}"/>
              </a:ext>
            </a:extLst>
          </p:cNvPr>
          <p:cNvSpPr/>
          <p:nvPr/>
        </p:nvSpPr>
        <p:spPr>
          <a:xfrm>
            <a:off x="2999" y="0"/>
            <a:ext cx="12192000" cy="47625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6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C0794E39-3538-4624-65A5-64A6FCA3387E}"/>
              </a:ext>
            </a:extLst>
          </p:cNvPr>
          <p:cNvSpPr/>
          <p:nvPr/>
        </p:nvSpPr>
        <p:spPr>
          <a:xfrm>
            <a:off x="636901" y="5148043"/>
            <a:ext cx="1400175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Segoe UI"/>
                <a:ea typeface="Microsoft YaHei"/>
                <a:cs typeface="Segoe UI"/>
              </a:rPr>
              <a:t>Pipeline Latency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Segoe UI"/>
                <a:ea typeface="Microsoft YaHei"/>
                <a:cs typeface="Segoe UI"/>
              </a:rPr>
              <a:t>Sub-200ms Verified</a:t>
            </a:r>
          </a:p>
        </p:txBody>
      </p:sp>
      <p:sp>
        <p:nvSpPr>
          <p:cNvPr id="30" name="Rounded Rectangle 13">
            <a:extLst>
              <a:ext uri="{FF2B5EF4-FFF2-40B4-BE49-F238E27FC236}">
                <a16:creationId xmlns:a16="http://schemas.microsoft.com/office/drawing/2014/main" id="{7F23E2E2-0430-EDDA-B456-626B6C3F0043}"/>
              </a:ext>
            </a:extLst>
          </p:cNvPr>
          <p:cNvSpPr/>
          <p:nvPr/>
        </p:nvSpPr>
        <p:spPr>
          <a:xfrm>
            <a:off x="2139755" y="5148043"/>
            <a:ext cx="1400175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Segoe UI"/>
                <a:ea typeface="Microsoft YaHei"/>
                <a:cs typeface="Segoe UI"/>
              </a:rPr>
              <a:t>Execution Trigger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Segoe UI"/>
                <a:ea typeface="Microsoft YaHei"/>
                <a:cs typeface="Segoe UI"/>
              </a:rPr>
              <a:t>Rule A1 (Impact ≥ 7)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B45309"/>
              </a:solidFill>
              <a:effectLst/>
              <a:uLnTx/>
              <a:uFillTx/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backgroun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F1F5F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6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nav-category"/>
          <p:cNvGrpSpPr/>
          <p:nvPr/>
        </p:nvGrpSpPr>
        <p:grpSpPr>
          <a:xfrm>
            <a:off x="476250" y="333375"/>
            <a:ext cx="2381250" cy="247650"/>
            <a:chOff x="476250" y="333375"/>
            <a:chExt cx="2381250" cy="247650"/>
          </a:xfrm>
        </p:grpSpPr>
        <p:sp>
          <p:nvSpPr>
            <p:cNvPr id="5" name="Rectangle 5"/>
            <p:cNvSpPr/>
            <p:nvPr/>
          </p:nvSpPr>
          <p:spPr>
            <a:xfrm>
              <a:off x="476250" y="333375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>
              <a:solidFill>
                <a:schemeClr val="dk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581025" y="4191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8188" y="393700"/>
              <a:ext cx="16872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38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// PROBLEM STATEMENT</a:t>
              </a:r>
            </a:p>
          </p:txBody>
        </p:sp>
      </p:grpSp>
      <p:grpSp>
        <p:nvGrpSpPr>
          <p:cNvPr id="11" name="title-header"/>
          <p:cNvGrpSpPr/>
          <p:nvPr/>
        </p:nvGrpSpPr>
        <p:grpSpPr>
          <a:xfrm>
            <a:off x="464058" y="698500"/>
            <a:ext cx="6461673" cy="618109"/>
            <a:chOff x="464058" y="698500"/>
            <a:chExt cx="6461673" cy="618109"/>
          </a:xfrm>
        </p:grpSpPr>
        <p:sp>
          <p:nvSpPr>
            <p:cNvPr id="9" name="TextBox 9"/>
            <p:cNvSpPr txBox="1"/>
            <p:nvPr/>
          </p:nvSpPr>
          <p:spPr>
            <a:xfrm>
              <a:off x="464058" y="698500"/>
              <a:ext cx="6461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spc="-2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Executive Problem &amp; Solution Architecture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0916" y="1111250"/>
              <a:ext cx="4098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From Overnight Batch Latency to Real-Time Crisis Simulation</a:t>
              </a:r>
            </a:p>
          </p:txBody>
        </p:sp>
      </p:grpSp>
      <p:grpSp>
        <p:nvGrpSpPr>
          <p:cNvPr id="15" name="problem-context"/>
          <p:cNvGrpSpPr/>
          <p:nvPr/>
        </p:nvGrpSpPr>
        <p:grpSpPr>
          <a:xfrm>
            <a:off x="476250" y="1409700"/>
            <a:ext cx="11239500" cy="428625"/>
            <a:chOff x="476250" y="1409700"/>
            <a:chExt cx="11239500" cy="428625"/>
          </a:xfrm>
        </p:grpSpPr>
        <p:sp>
          <p:nvSpPr>
            <p:cNvPr id="12" name="Rectangle 12"/>
            <p:cNvSpPr/>
            <p:nvPr/>
          </p:nvSpPr>
          <p:spPr>
            <a:xfrm>
              <a:off x="476250" y="1409700"/>
              <a:ext cx="11239500" cy="428625"/>
            </a:xfrm>
            <a:prstGeom prst="roundRect">
              <a:avLst>
                <a:gd name="adj" fmla="val 17778"/>
              </a:avLst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988" y="1552575"/>
              <a:ext cx="9089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Core Challenge: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2112" y="1552575"/>
              <a:ext cx="8242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Financial institutions face immense intra-day tail risk when geopolitical or credit shocks break, yet risk desks remain constrained by overnight T+1 batches.</a:t>
              </a:r>
            </a:p>
          </p:txBody>
        </p:sp>
      </p:grpSp>
      <p:grpSp>
        <p:nvGrpSpPr>
          <p:cNvPr id="44" name="problem-comparison"/>
          <p:cNvGrpSpPr/>
          <p:nvPr/>
        </p:nvGrpSpPr>
        <p:grpSpPr>
          <a:xfrm>
            <a:off x="476250" y="1952625"/>
            <a:ext cx="11242101" cy="3857625"/>
            <a:chOff x="476250" y="1952625"/>
            <a:chExt cx="11242101" cy="3857625"/>
          </a:xfrm>
        </p:grpSpPr>
        <p:sp>
          <p:nvSpPr>
            <p:cNvPr id="16" name="Rectangle 16"/>
            <p:cNvSpPr/>
            <p:nvPr/>
          </p:nvSpPr>
          <p:spPr>
            <a:xfrm>
              <a:off x="476250" y="1952625"/>
              <a:ext cx="5476875" cy="3857625"/>
            </a:xfrm>
            <a:prstGeom prst="roundRect">
              <a:avLst>
                <a:gd name="adj" fmla="val 2469"/>
              </a:avLst>
            </a:prstGeom>
            <a:solidFill>
              <a:schemeClr val="lt2"/>
            </a:solidFill>
            <a:ln w="14288">
              <a:solidFill>
                <a:srgbClr val="FDA4A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76250" y="1952625"/>
              <a:ext cx="5476875" cy="95250"/>
            </a:xfrm>
            <a:custGeom>
              <a:avLst/>
              <a:gdLst/>
              <a:ahLst/>
              <a:cxnLst/>
              <a:rect l="l" t="t" r="r" b="b"/>
              <a:pathLst>
                <a:path w="5476875" h="9525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5381625" y="0"/>
                  </a:lnTo>
                  <a:cubicBezTo>
                    <a:pt x="5434230" y="0"/>
                    <a:pt x="5476875" y="42645"/>
                    <a:pt x="5476875" y="95250"/>
                  </a:cubicBezTo>
                  <a:lnTo>
                    <a:pt x="5476875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E11D4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04850" y="2143125"/>
              <a:ext cx="1809750" cy="247650"/>
            </a:xfrm>
            <a:prstGeom prst="roundRect">
              <a:avLst>
                <a:gd name="adj" fmla="val 23077"/>
              </a:avLst>
            </a:prstGeom>
            <a:solidFill>
              <a:srgbClr val="FFE4E6"/>
            </a:solidFill>
            <a:ln w="9525">
              <a:solidFill>
                <a:srgbClr val="FECDD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5338" y="2203450"/>
              <a:ext cx="14695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BE123C"/>
                  </a:solidFill>
                  <a:latin typeface="+mn-lt"/>
                  <a:ea typeface="+mn-ea"/>
                  <a:cs typeface="+mn-cs"/>
                </a:rPr>
                <a:t>LEGACY BANK RISK DESKS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7992" y="2501900"/>
              <a:ext cx="3165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Overnight Latency &amp; Rigid Scenarios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04850" y="2905125"/>
              <a:ext cx="5019675" cy="714375"/>
            </a:xfrm>
            <a:prstGeom prst="roundRect">
              <a:avLst>
                <a:gd name="adj" fmla="val 8000"/>
              </a:avLst>
            </a:prstGeom>
            <a:solidFill>
              <a:srgbClr val="FFF1F2"/>
            </a:solidFill>
            <a:ln w="9525">
              <a:solidFill>
                <a:srgbClr val="FECDD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2488" y="3028950"/>
              <a:ext cx="25243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BE123C"/>
                  </a:solidFill>
                  <a:latin typeface="+mn-lt"/>
                  <a:ea typeface="+mn-ea"/>
                  <a:cs typeface="+mn-cs"/>
                </a:rPr>
                <a:t>T+1 Batch Processing Window (8-12 Hours)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2488" y="3251200"/>
              <a:ext cx="4437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Positions revalued only after end-of-day market close, blinding desks during intraday crisis.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04850" y="3762375"/>
              <a:ext cx="5019675" cy="714375"/>
            </a:xfrm>
            <a:prstGeom prst="roundRect">
              <a:avLst>
                <a:gd name="adj" fmla="val 8000"/>
              </a:avLst>
            </a:prstGeom>
            <a:solidFill>
              <a:srgbClr val="FFF1F2"/>
            </a:solidFill>
            <a:ln w="9525">
              <a:solidFill>
                <a:srgbClr val="FECDD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2488" y="3886200"/>
              <a:ext cx="15258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BE123C"/>
                  </a:solidFill>
                  <a:latin typeface="+mn-lt"/>
                  <a:ea typeface="+mn-ea"/>
                  <a:cs typeface="+mn-cs"/>
                </a:rPr>
                <a:t>Disconnected News Triage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2488" y="4108450"/>
              <a:ext cx="48561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Breaking headlines reviewed manually by analysts with no automated transmission into risk models.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04850" y="4619625"/>
              <a:ext cx="5019675" cy="714375"/>
            </a:xfrm>
            <a:prstGeom prst="roundRect">
              <a:avLst>
                <a:gd name="adj" fmla="val 8000"/>
              </a:avLst>
            </a:prstGeom>
            <a:solidFill>
              <a:srgbClr val="FFF1F2"/>
            </a:solidFill>
            <a:ln w="9525">
              <a:solidFill>
                <a:srgbClr val="FECDD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2488" y="4743450"/>
              <a:ext cx="12767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BE123C"/>
                  </a:solidFill>
                  <a:latin typeface="+mn-lt"/>
                  <a:ea typeface="+mn-ea"/>
                  <a:cs typeface="+mn-cs"/>
                </a:rPr>
                <a:t>Static Uniform Shocks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2488" y="4965700"/>
              <a:ext cx="46134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Generic haircuts fail to model derivative Greeks, sector contagion, or credit rating downgrades.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38875" y="1952625"/>
              <a:ext cx="5476875" cy="3857625"/>
            </a:xfrm>
            <a:prstGeom prst="roundRect">
              <a:avLst>
                <a:gd name="adj" fmla="val 2469"/>
              </a:avLst>
            </a:prstGeom>
            <a:solidFill>
              <a:schemeClr val="lt2"/>
            </a:solidFill>
            <a:ln w="14288">
              <a:solidFill>
                <a:srgbClr val="93C5FD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238875" y="1952625"/>
              <a:ext cx="5476875" cy="95250"/>
            </a:xfrm>
            <a:custGeom>
              <a:avLst/>
              <a:gdLst/>
              <a:ahLst/>
              <a:cxnLst/>
              <a:rect l="l" t="t" r="r" b="b"/>
              <a:pathLst>
                <a:path w="5476875" h="9525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5381625" y="0"/>
                  </a:lnTo>
                  <a:cubicBezTo>
                    <a:pt x="5434230" y="0"/>
                    <a:pt x="5476875" y="42645"/>
                    <a:pt x="5476875" y="95250"/>
                  </a:cubicBezTo>
                  <a:lnTo>
                    <a:pt x="5476875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7475" y="2143125"/>
              <a:ext cx="180975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7962" y="2203450"/>
              <a:ext cx="12406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MODERN RISKENGINE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0617" y="2501900"/>
              <a:ext cx="3291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Event-Driven Sub-Second Revaluation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7475" y="2905125"/>
              <a:ext cx="5019675" cy="714375"/>
            </a:xfrm>
            <a:prstGeom prst="roundRect">
              <a:avLst>
                <a:gd name="adj" fmla="val 8000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15112" y="3028950"/>
              <a:ext cx="20689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Sub-200ms Multi-Asset Revaluation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15112" y="3251200"/>
              <a:ext cx="49853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Immediate recalculation across 200 portfolio positions the moment threshold-breaching signals arrive.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7475" y="3762375"/>
              <a:ext cx="5019675" cy="714375"/>
            </a:xfrm>
            <a:prstGeom prst="roundRect">
              <a:avLst>
                <a:gd name="adj" fmla="val 8000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15112" y="3886200"/>
              <a:ext cx="20687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Automated AI Severity &amp; Debounce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15112" y="4108450"/>
              <a:ext cx="5103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FastNLP taxonomy extraction, financial impact scoring (1-10), and smart suppression of redundant feeds.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7475" y="4619625"/>
              <a:ext cx="5019675" cy="714375"/>
            </a:xfrm>
            <a:prstGeom prst="roundRect">
              <a:avLst>
                <a:gd name="adj" fmla="val 8000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15112" y="4743450"/>
              <a:ext cx="18452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Multi-Asset Transmission Depth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5112" y="4965700"/>
              <a:ext cx="47043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Basel III Expected Loss, duration curve shifts, beta sensitivity, and Black-Scholes Greek modeling.</a:t>
              </a:r>
            </a:p>
          </p:txBody>
        </p:sp>
      </p:grpSp>
      <p:grpSp>
        <p:nvGrpSpPr>
          <p:cNvPr id="48" name="problem-takeaway"/>
          <p:cNvGrpSpPr/>
          <p:nvPr/>
        </p:nvGrpSpPr>
        <p:grpSpPr>
          <a:xfrm>
            <a:off x="476250" y="5924550"/>
            <a:ext cx="11239500" cy="361950"/>
            <a:chOff x="476250" y="5924550"/>
            <a:chExt cx="11239500" cy="361950"/>
          </a:xfrm>
        </p:grpSpPr>
        <p:sp>
          <p:nvSpPr>
            <p:cNvPr id="45" name="Rectangle 45"/>
            <p:cNvSpPr/>
            <p:nvPr/>
          </p:nvSpPr>
          <p:spPr>
            <a:xfrm>
              <a:off x="476250" y="5924550"/>
              <a:ext cx="11239500" cy="361950"/>
            </a:xfrm>
            <a:prstGeom prst="roundRect">
              <a:avLst>
                <a:gd name="adj" fmla="val 21053"/>
              </a:avLst>
            </a:prstGeom>
            <a:solidFill>
              <a:schemeClr val="accent6"/>
            </a:solidFill>
            <a:ln w="9525">
              <a:solidFill>
                <a:schemeClr val="dk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1988" y="6038850"/>
              <a:ext cx="9110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Strategic Value: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662112" y="6038850"/>
              <a:ext cx="65240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Eliminates intra-day tail risk blind spots, enabling proactive capital preservation and instant executive committee briefings.</a:t>
              </a:r>
            </a:p>
          </p:txBody>
        </p:sp>
      </p:grpSp>
      <p:grpSp>
        <p:nvGrpSpPr>
          <p:cNvPr id="52" name="page-footer"/>
          <p:cNvGrpSpPr/>
          <p:nvPr/>
        </p:nvGrpSpPr>
        <p:grpSpPr>
          <a:xfrm>
            <a:off x="471488" y="6429375"/>
            <a:ext cx="11249025" cy="250825"/>
            <a:chOff x="471488" y="6429375"/>
            <a:chExt cx="11249025" cy="250825"/>
          </a:xfrm>
        </p:grpSpPr>
        <p:sp>
          <p:nvSpPr>
            <p:cNvPr id="49" name="Line 49"/>
            <p:cNvSpPr/>
            <p:nvPr/>
          </p:nvSpPr>
          <p:spPr>
            <a:xfrm>
              <a:off x="476250" y="6429375"/>
              <a:ext cx="11239500" cy="9525"/>
            </a:xfrm>
            <a:custGeom>
              <a:avLst/>
              <a:gdLst/>
              <a:ahLst/>
              <a:cxnLst/>
              <a:rect l="l" t="t" r="r" b="b"/>
              <a:pathLst>
                <a:path w="11239500" h="9525">
                  <a:moveTo>
                    <a:pt x="0" y="0"/>
                  </a:moveTo>
                  <a:lnTo>
                    <a:pt x="1123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1488" y="6518275"/>
              <a:ext cx="35611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RiskEngine • Real-Time Portfolio Stress Testing &amp; Risk Analytics Platform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056688" y="6518275"/>
              <a:ext cx="663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Slide 02 / 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backgroun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F1F5F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6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nav-category"/>
          <p:cNvGrpSpPr/>
          <p:nvPr/>
        </p:nvGrpSpPr>
        <p:grpSpPr>
          <a:xfrm>
            <a:off x="476250" y="333375"/>
            <a:ext cx="2381250" cy="247650"/>
            <a:chOff x="476250" y="333375"/>
            <a:chExt cx="2381250" cy="247650"/>
          </a:xfrm>
        </p:grpSpPr>
        <p:sp>
          <p:nvSpPr>
            <p:cNvPr id="5" name="Rectangle 5"/>
            <p:cNvSpPr/>
            <p:nvPr/>
          </p:nvSpPr>
          <p:spPr>
            <a:xfrm>
              <a:off x="476250" y="333375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>
              <a:solidFill>
                <a:schemeClr val="dk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581025" y="4191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8188" y="393700"/>
              <a:ext cx="1768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38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// SYSTEM ARCHITECTURE</a:t>
              </a:r>
            </a:p>
          </p:txBody>
        </p:sp>
      </p:grpSp>
      <p:grpSp>
        <p:nvGrpSpPr>
          <p:cNvPr id="11" name="title-header"/>
          <p:cNvGrpSpPr/>
          <p:nvPr/>
        </p:nvGrpSpPr>
        <p:grpSpPr>
          <a:xfrm>
            <a:off x="464058" y="698500"/>
            <a:ext cx="5956912" cy="618109"/>
            <a:chOff x="464058" y="698500"/>
            <a:chExt cx="5956912" cy="618109"/>
          </a:xfrm>
        </p:grpSpPr>
        <p:sp>
          <p:nvSpPr>
            <p:cNvPr id="9" name="TextBox 9"/>
            <p:cNvSpPr txBox="1"/>
            <p:nvPr/>
          </p:nvSpPr>
          <p:spPr>
            <a:xfrm>
              <a:off x="464058" y="698500"/>
              <a:ext cx="5956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spc="-2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Microservices Architecture &amp; Data Flow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0916" y="1111250"/>
              <a:ext cx="4989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Containerized Tri-Service Microservice Orchestration &amp; Reactive Event Bus</a:t>
              </a:r>
            </a:p>
          </p:txBody>
        </p:sp>
      </p:grpSp>
      <p:grpSp>
        <p:nvGrpSpPr>
          <p:cNvPr id="66" name="microservices-cards"/>
          <p:cNvGrpSpPr/>
          <p:nvPr/>
        </p:nvGrpSpPr>
        <p:grpSpPr>
          <a:xfrm>
            <a:off x="476250" y="1409700"/>
            <a:ext cx="11239500" cy="3857625"/>
            <a:chOff x="476250" y="1409700"/>
            <a:chExt cx="11239500" cy="3857625"/>
          </a:xfrm>
        </p:grpSpPr>
        <p:sp>
          <p:nvSpPr>
            <p:cNvPr id="12" name="Rectangle 12"/>
            <p:cNvSpPr/>
            <p:nvPr/>
          </p:nvSpPr>
          <p:spPr>
            <a:xfrm>
              <a:off x="476250" y="1409700"/>
              <a:ext cx="3429000" cy="3857625"/>
            </a:xfrm>
            <a:prstGeom prst="roundRect">
              <a:avLst>
                <a:gd name="adj" fmla="val 2778"/>
              </a:avLst>
            </a:prstGeom>
            <a:solidFill>
              <a:schemeClr val="lt2"/>
            </a:solidFill>
            <a:ln w="14288">
              <a:solidFill>
                <a:srgbClr val="CBD5E1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76250" y="1409700"/>
              <a:ext cx="3429000" cy="95250"/>
            </a:xfrm>
            <a:custGeom>
              <a:avLst/>
              <a:gdLst/>
              <a:ahLst/>
              <a:cxnLst/>
              <a:rect l="l" t="t" r="r" b="b"/>
              <a:pathLst>
                <a:path w="3429000" h="9525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3333750" y="0"/>
                  </a:lnTo>
                  <a:cubicBezTo>
                    <a:pt x="3386355" y="0"/>
                    <a:pt x="3429000" y="42645"/>
                    <a:pt x="3429000" y="95250"/>
                  </a:cubicBezTo>
                  <a:lnTo>
                    <a:pt x="342900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66750" y="1600200"/>
              <a:ext cx="1238250" cy="228600"/>
            </a:xfrm>
            <a:prstGeom prst="roundRect">
              <a:avLst>
                <a:gd name="adj" fmla="val 16667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8188" y="1651000"/>
              <a:ext cx="8152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4338CA"/>
                  </a:solidFill>
                  <a:latin typeface="+mn-lt"/>
                  <a:ea typeface="+mn-ea"/>
                  <a:cs typeface="+mn-cs"/>
                </a:rPr>
                <a:t>risk-nlp-sidecar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38488" y="1651000"/>
              <a:ext cx="5233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Port 8000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9892" y="1949450"/>
              <a:ext cx="1971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Python FastAPI &amp; NLP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988" y="2241550"/>
              <a:ext cx="22086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Uvicorn • Spacy / Transformers • Rule Engine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6750" y="2524125"/>
              <a:ext cx="3048000" cy="2524125"/>
            </a:xfrm>
            <a:prstGeom prst="roundRect">
              <a:avLst>
                <a:gd name="adj" fmla="val 2264"/>
              </a:avLst>
            </a:prstGeom>
            <a:solidFill>
              <a:schemeClr val="lt1"/>
            </a:solidFill>
            <a:ln w="9525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862" y="2695575"/>
              <a:ext cx="18903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4338CA"/>
                  </a:solidFill>
                  <a:latin typeface="+mn-lt"/>
                  <a:ea typeface="+mn-ea"/>
                  <a:cs typeface="+mn-cs"/>
                </a:rPr>
                <a:t>1. Event Taxonomy Classification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4862" y="2927350"/>
              <a:ext cx="18287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Classifies 8 financial crisis event types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4862" y="3267075"/>
              <a:ext cx="19244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4338CA"/>
                  </a:solidFill>
                  <a:latin typeface="+mn-lt"/>
                  <a:ea typeface="+mn-ea"/>
                  <a:cs typeface="+mn-cs"/>
                </a:rPr>
                <a:t>2. Named Entity Extraction (NER)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4862" y="3498850"/>
              <a:ext cx="20282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Maps tickers, institutions, sectors, regions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4862" y="3838575"/>
              <a:ext cx="16158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4338CA"/>
                  </a:solidFill>
                  <a:latin typeface="+mn-lt"/>
                  <a:ea typeface="+mn-ea"/>
                  <a:cs typeface="+mn-cs"/>
                </a:rPr>
                <a:t>3. Financial Severity Scoring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4862" y="4070350"/>
              <a:ext cx="21485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Calculates impact 1-10 &amp; sentiment polarity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4862" y="4410075"/>
              <a:ext cx="18445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4. Zero-Downtime Java Fallback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4862" y="4641850"/>
              <a:ext cx="19142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Rule-based fallback if sidecar times out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4000500" y="32861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  <a:prstDash val="dash"/>
            </a:ln>
          </p:spPr>
        </p:sp>
        <p:sp>
          <p:nvSpPr>
            <p:cNvPr id="29" name="Polygon 29"/>
            <p:cNvSpPr/>
            <p:nvPr/>
          </p:nvSpPr>
          <p:spPr>
            <a:xfrm>
              <a:off x="4257675" y="3238500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7620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95738" y="3060700"/>
              <a:ext cx="2814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REST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381500" y="1409700"/>
              <a:ext cx="3429000" cy="3857625"/>
            </a:xfrm>
            <a:prstGeom prst="roundRect">
              <a:avLst>
                <a:gd name="adj" fmla="val 2778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381500" y="1409700"/>
              <a:ext cx="3429000" cy="95250"/>
            </a:xfrm>
            <a:custGeom>
              <a:avLst/>
              <a:gdLst/>
              <a:ahLst/>
              <a:cxnLst/>
              <a:rect l="l" t="t" r="r" b="b"/>
              <a:pathLst>
                <a:path w="3429000" h="9525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3333750" y="0"/>
                  </a:lnTo>
                  <a:cubicBezTo>
                    <a:pt x="3386355" y="0"/>
                    <a:pt x="3429000" y="42645"/>
                    <a:pt x="3429000" y="95250"/>
                  </a:cubicBezTo>
                  <a:lnTo>
                    <a:pt x="342900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72000" y="1600200"/>
              <a:ext cx="1238250" cy="228600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43438" y="1651000"/>
              <a:ext cx="6771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risk-backend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43738" y="1651000"/>
              <a:ext cx="5233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Port 8080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65142" y="1949450"/>
              <a:ext cx="2102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Spring Boot 3 &amp; Java 21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67238" y="2241550"/>
              <a:ext cx="23549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Spring Data JPA • In-Memory H2 • SSE Emitters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572000" y="2524125"/>
              <a:ext cx="3048000" cy="2524125"/>
            </a:xfrm>
            <a:prstGeom prst="roundRect">
              <a:avLst>
                <a:gd name="adj" fmla="val 2264"/>
              </a:avLst>
            </a:prstGeom>
            <a:solidFill>
              <a:schemeClr val="lt1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10112" y="2695575"/>
              <a:ext cx="1821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1. Signal Ingestion &amp; Debounce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10112" y="2927350"/>
              <a:ext cx="20981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Ingests CSV/GDELT, enforces 30m window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10112" y="3267075"/>
              <a:ext cx="1544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2. Threshold Stress Trigger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10112" y="3498850"/>
              <a:ext cx="23241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Fires when Impact &gt;= 7 and Confidence &gt;= 0.5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10112" y="3838575"/>
              <a:ext cx="16277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3. Multi-Asset Stress Service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10112" y="4070350"/>
              <a:ext cx="19829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Pricers for Equity, Bond, Loan, Derivative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10112" y="4410075"/>
              <a:ext cx="15019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4. Reactive SSE Streaming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10112" y="4641850"/>
              <a:ext cx="22530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Broadcasts /stress/stream and /signals/stream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7905750" y="32861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3812">
              <a:solidFill>
                <a:schemeClr val="accent3"/>
              </a:solidFill>
              <a:prstDash val="dash"/>
            </a:ln>
          </p:spPr>
        </p:sp>
        <p:sp>
          <p:nvSpPr>
            <p:cNvPr id="48" name="Polygon 48"/>
            <p:cNvSpPr/>
            <p:nvPr/>
          </p:nvSpPr>
          <p:spPr>
            <a:xfrm>
              <a:off x="8162925" y="3238500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7620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20038" y="3060700"/>
              <a:ext cx="2023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286750" y="1409700"/>
              <a:ext cx="3429000" cy="3857625"/>
            </a:xfrm>
            <a:prstGeom prst="roundRect">
              <a:avLst>
                <a:gd name="adj" fmla="val 2778"/>
              </a:avLst>
            </a:prstGeom>
            <a:solidFill>
              <a:schemeClr val="lt2"/>
            </a:solidFill>
            <a:ln w="14288">
              <a:solidFill>
                <a:srgbClr val="CBD5E1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286750" y="1409700"/>
              <a:ext cx="3429000" cy="95250"/>
            </a:xfrm>
            <a:custGeom>
              <a:avLst/>
              <a:gdLst/>
              <a:ahLst/>
              <a:cxnLst/>
              <a:rect l="l" t="t" r="r" b="b"/>
              <a:pathLst>
                <a:path w="3429000" h="9525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3333750" y="0"/>
                  </a:lnTo>
                  <a:cubicBezTo>
                    <a:pt x="3386355" y="0"/>
                    <a:pt x="3429000" y="42645"/>
                    <a:pt x="3429000" y="95250"/>
                  </a:cubicBezTo>
                  <a:lnTo>
                    <a:pt x="342900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477250" y="1600200"/>
              <a:ext cx="1238250" cy="228600"/>
            </a:xfrm>
            <a:prstGeom prst="roundRect">
              <a:avLst>
                <a:gd name="adj" fmla="val 16667"/>
              </a:avLst>
            </a:prstGeom>
            <a:solidFill>
              <a:srgbClr val="ECFDF5"/>
            </a:solidFill>
            <a:ln w="9525">
              <a:solidFill>
                <a:srgbClr val="A7F3D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48688" y="1651000"/>
              <a:ext cx="6980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risk-frontend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48988" y="1651000"/>
              <a:ext cx="5233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Port 5173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70392" y="1949450"/>
              <a:ext cx="17742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React 18 &amp; Vite SPA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72488" y="2241550"/>
              <a:ext cx="23827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TypeScript • Recharts • Lucide • Glassmorphic UI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477250" y="2524125"/>
              <a:ext cx="3048000" cy="2524125"/>
            </a:xfrm>
            <a:prstGeom prst="roundRect">
              <a:avLst>
                <a:gd name="adj" fmla="val 2264"/>
              </a:avLst>
            </a:prstGeom>
            <a:solidFill>
              <a:schemeClr val="lt1"/>
            </a:solidFill>
            <a:ln w="9525">
              <a:solidFill>
                <a:srgbClr val="E2E8F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615362" y="2695575"/>
              <a:ext cx="18758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1. Dynamic Path Valuation Chart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15362" y="2927350"/>
              <a:ext cx="20463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Dual metric view ($B vs %) &amp; baseline line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15362" y="3267075"/>
              <a:ext cx="15145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2. Live Signal Stream Feed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615362" y="3498850"/>
              <a:ext cx="22367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Real-time incoming cards with impact badges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15362" y="3838575"/>
              <a:ext cx="1577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3. Loss Heatmaps &amp; Top 10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15362" y="4070350"/>
              <a:ext cx="21701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Breakdown by asset class, sector, and region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15362" y="4410075"/>
              <a:ext cx="16241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4. Explainable 'Why Drawer'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15362" y="4641850"/>
              <a:ext cx="20484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Deep-dive financial attribution on any run</a:t>
              </a:r>
            </a:p>
          </p:txBody>
        </p:sp>
      </p:grpSp>
      <p:grpSp>
        <p:nvGrpSpPr>
          <p:cNvPr id="74" name="microservices-deploy"/>
          <p:cNvGrpSpPr/>
          <p:nvPr/>
        </p:nvGrpSpPr>
        <p:grpSpPr>
          <a:xfrm>
            <a:off x="476250" y="5410200"/>
            <a:ext cx="11239500" cy="809625"/>
            <a:chOff x="476250" y="5410200"/>
            <a:chExt cx="11239500" cy="809625"/>
          </a:xfrm>
        </p:grpSpPr>
        <p:sp>
          <p:nvSpPr>
            <p:cNvPr id="67" name="Rectangle 67"/>
            <p:cNvSpPr/>
            <p:nvPr/>
          </p:nvSpPr>
          <p:spPr>
            <a:xfrm>
              <a:off x="476250" y="5410200"/>
              <a:ext cx="11239500" cy="809625"/>
            </a:xfrm>
            <a:prstGeom prst="roundRect">
              <a:avLst>
                <a:gd name="adj" fmla="val 9412"/>
              </a:avLst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9612" y="5562600"/>
              <a:ext cx="23417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Containerized Deployment Environment: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043238" y="5562600"/>
              <a:ext cx="59326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Orchestrated with Docker Compose on dedicated risk-network bridge with automated container health checks.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9612" y="5880100"/>
              <a:ext cx="12302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8BDF8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Microservice Isolation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281238" y="5880100"/>
              <a:ext cx="1285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8BDF8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Auto Service Discovery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090988" y="5880100"/>
              <a:ext cx="17325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8BDF8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Zero External DB Dependencies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67488" y="5880100"/>
              <a:ext cx="21850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38BDF8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Turnkey 'docker-compose up -d' Launch</a:t>
              </a:r>
            </a:p>
          </p:txBody>
        </p:sp>
      </p:grpSp>
      <p:grpSp>
        <p:nvGrpSpPr>
          <p:cNvPr id="78" name="page-footer"/>
          <p:cNvGrpSpPr/>
          <p:nvPr/>
        </p:nvGrpSpPr>
        <p:grpSpPr>
          <a:xfrm>
            <a:off x="471488" y="6429375"/>
            <a:ext cx="11249025" cy="250825"/>
            <a:chOff x="471488" y="6429375"/>
            <a:chExt cx="11249025" cy="250825"/>
          </a:xfrm>
        </p:grpSpPr>
        <p:sp>
          <p:nvSpPr>
            <p:cNvPr id="75" name="Line 75"/>
            <p:cNvSpPr/>
            <p:nvPr/>
          </p:nvSpPr>
          <p:spPr>
            <a:xfrm>
              <a:off x="476250" y="6429375"/>
              <a:ext cx="11239500" cy="9525"/>
            </a:xfrm>
            <a:custGeom>
              <a:avLst/>
              <a:gdLst/>
              <a:ahLst/>
              <a:cxnLst/>
              <a:rect l="l" t="t" r="r" b="b"/>
              <a:pathLst>
                <a:path w="11239500" h="9525">
                  <a:moveTo>
                    <a:pt x="0" y="0"/>
                  </a:moveTo>
                  <a:lnTo>
                    <a:pt x="1123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71488" y="6518275"/>
              <a:ext cx="35611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RiskEngine • Real-Time Portfolio Stress Testing &amp; Risk Analytics Platform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056688" y="6518275"/>
              <a:ext cx="663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Slide 03 / 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backgroun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F1F5F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6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nav-category"/>
          <p:cNvGrpSpPr/>
          <p:nvPr/>
        </p:nvGrpSpPr>
        <p:grpSpPr>
          <a:xfrm>
            <a:off x="476250" y="333375"/>
            <a:ext cx="2381250" cy="247650"/>
            <a:chOff x="476250" y="333375"/>
            <a:chExt cx="2381250" cy="247650"/>
          </a:xfrm>
        </p:grpSpPr>
        <p:sp>
          <p:nvSpPr>
            <p:cNvPr id="5" name="Rectangle 5"/>
            <p:cNvSpPr/>
            <p:nvPr/>
          </p:nvSpPr>
          <p:spPr>
            <a:xfrm>
              <a:off x="476250" y="333375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>
              <a:solidFill>
                <a:schemeClr val="dk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581025" y="4191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8188" y="393700"/>
              <a:ext cx="17030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38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 // FINANCIAL MODELING</a:t>
              </a:r>
            </a:p>
          </p:txBody>
        </p:sp>
      </p:grpSp>
      <p:grpSp>
        <p:nvGrpSpPr>
          <p:cNvPr id="11" name="title-header"/>
          <p:cNvGrpSpPr/>
          <p:nvPr/>
        </p:nvGrpSpPr>
        <p:grpSpPr>
          <a:xfrm>
            <a:off x="464058" y="698500"/>
            <a:ext cx="6125211" cy="618109"/>
            <a:chOff x="464058" y="698500"/>
            <a:chExt cx="6125211" cy="618109"/>
          </a:xfrm>
        </p:grpSpPr>
        <p:sp>
          <p:nvSpPr>
            <p:cNvPr id="9" name="TextBox 9"/>
            <p:cNvSpPr txBox="1"/>
            <p:nvPr/>
          </p:nvSpPr>
          <p:spPr>
            <a:xfrm>
              <a:off x="464058" y="698500"/>
              <a:ext cx="57205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spc="-2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Multi-Asset Stress Revaluation Engine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0916" y="1111250"/>
              <a:ext cx="6118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Rigorous Mathematical Pricing Across 200 Positions in Equities, Bonds, Loans &amp; Derivatives</a:t>
              </a:r>
            </a:p>
          </p:txBody>
        </p:sp>
      </p:grpSp>
      <p:grpSp>
        <p:nvGrpSpPr>
          <p:cNvPr id="19" name="pricing-metric-bar"/>
          <p:cNvGrpSpPr/>
          <p:nvPr/>
        </p:nvGrpSpPr>
        <p:grpSpPr>
          <a:xfrm>
            <a:off x="476250" y="1409700"/>
            <a:ext cx="11239500" cy="419100"/>
            <a:chOff x="476250" y="1409700"/>
            <a:chExt cx="11239500" cy="419100"/>
          </a:xfrm>
        </p:grpSpPr>
        <p:sp>
          <p:nvSpPr>
            <p:cNvPr id="12" name="Rectangle 12"/>
            <p:cNvSpPr/>
            <p:nvPr/>
          </p:nvSpPr>
          <p:spPr>
            <a:xfrm>
              <a:off x="476250" y="1409700"/>
              <a:ext cx="11239500" cy="419100"/>
            </a:xfrm>
            <a:prstGeom prst="roundRect">
              <a:avLst>
                <a:gd name="adj" fmla="val 18182"/>
              </a:avLst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9612" y="1552575"/>
              <a:ext cx="1527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Total Monitored Portfolio: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33041" y="1539875"/>
              <a:ext cx="25934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$1,759,091,843.29 ($1.759B Base MV)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14988" y="1552575"/>
              <a:ext cx="8018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7735" indent="-77735" algn="l">
                <a:buClr>
                  <a:srgbClr val="94A3B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200 Positions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3738" y="1552575"/>
              <a:ext cx="8954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7735" indent="-77735" algn="l">
                <a:buClr>
                  <a:srgbClr val="94A3B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4 Asset Classes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7238" y="1552575"/>
              <a:ext cx="578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7735" indent="-77735" algn="l">
                <a:buClr>
                  <a:srgbClr val="94A3B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8 Sectors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29738" y="1552575"/>
              <a:ext cx="11496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7735" indent="-77735" algn="l">
                <a:buClr>
                  <a:srgbClr val="94A3B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Global Geographies</a:t>
              </a:r>
            </a:p>
          </p:txBody>
        </p:sp>
      </p:grpSp>
      <p:grpSp>
        <p:nvGrpSpPr>
          <p:cNvPr id="76" name="pricing-quadrants"/>
          <p:cNvGrpSpPr/>
          <p:nvPr/>
        </p:nvGrpSpPr>
        <p:grpSpPr>
          <a:xfrm>
            <a:off x="476250" y="1952625"/>
            <a:ext cx="11239500" cy="4267200"/>
            <a:chOff x="476250" y="1952625"/>
            <a:chExt cx="11239500" cy="4267200"/>
          </a:xfrm>
        </p:grpSpPr>
        <p:sp>
          <p:nvSpPr>
            <p:cNvPr id="20" name="Rectangle 20"/>
            <p:cNvSpPr/>
            <p:nvPr/>
          </p:nvSpPr>
          <p:spPr>
            <a:xfrm>
              <a:off x="476250" y="1952625"/>
              <a:ext cx="5476875" cy="2047875"/>
            </a:xfrm>
            <a:prstGeom prst="roundRect">
              <a:avLst>
                <a:gd name="adj" fmla="val 3721"/>
              </a:avLst>
            </a:prstGeom>
            <a:solidFill>
              <a:schemeClr val="lt2"/>
            </a:solidFill>
            <a:ln w="14288">
              <a:solidFill>
                <a:srgbClr val="CBD5E1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76250" y="1952625"/>
              <a:ext cx="5476875" cy="76200"/>
            </a:xfrm>
            <a:custGeom>
              <a:avLst/>
              <a:gdLst/>
              <a:ahLst/>
              <a:cxnLst/>
              <a:rect l="l" t="t" r="r" b="b"/>
              <a:pathLst>
                <a:path w="5476875" h="762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5400675" y="0"/>
                  </a:lnTo>
                  <a:cubicBezTo>
                    <a:pt x="5442759" y="0"/>
                    <a:pt x="5476875" y="34116"/>
                    <a:pt x="5476875" y="76200"/>
                  </a:cubicBezTo>
                  <a:lnTo>
                    <a:pt x="547687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" y="2124075"/>
              <a:ext cx="1714500" cy="209550"/>
            </a:xfrm>
            <a:prstGeom prst="roundRect">
              <a:avLst>
                <a:gd name="adj" fmla="val 18182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9138" y="2165350"/>
              <a:ext cx="16317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EQUITIES ($785M MV, 44.6%)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62488" y="2165350"/>
              <a:ext cx="9063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EquityRevaluator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1416" y="2463800"/>
              <a:ext cx="3301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Beta-Adjusted Market Shocks &amp; Sector Overrides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1988" y="2695575"/>
              <a:ext cx="31054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Pricing model: ΔP = Beta × EquityShock + SectorOverride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66750" y="2971800"/>
              <a:ext cx="5095875" cy="876300"/>
            </a:xfrm>
            <a:prstGeom prst="roundRect">
              <a:avLst>
                <a:gd name="adj" fmla="val 4348"/>
              </a:avLst>
            </a:prstGeom>
            <a:solidFill>
              <a:schemeClr val="lt1"/>
            </a:solidFill>
            <a:ln w="9525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6288" y="3079750"/>
              <a:ext cx="9808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accent2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Sector Overrides: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52612" y="3079750"/>
              <a:ext cx="30874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Tech (-14%), Energy (+25%), Financials (-18%), Defense (+15%)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6288" y="3308350"/>
              <a:ext cx="7579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accent2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Beta Scaling: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14488" y="3308350"/>
              <a:ext cx="33275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High-beta technology and growth equities amplify downside shocks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6288" y="3536950"/>
              <a:ext cx="8933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accent2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FX Adjustment: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90688" y="3536950"/>
              <a:ext cx="33120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Foreign equity holdings adjusted for EUR, GBP, JPY currency shocks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38875" y="1952625"/>
              <a:ext cx="5476875" cy="2047875"/>
            </a:xfrm>
            <a:prstGeom prst="roundRect">
              <a:avLst>
                <a:gd name="adj" fmla="val 3721"/>
              </a:avLst>
            </a:prstGeom>
            <a:solidFill>
              <a:schemeClr val="lt2"/>
            </a:solidFill>
            <a:ln w="14288">
              <a:solidFill>
                <a:srgbClr val="CBD5E1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238875" y="1952625"/>
              <a:ext cx="5476875" cy="76200"/>
            </a:xfrm>
            <a:custGeom>
              <a:avLst/>
              <a:gdLst/>
              <a:ahLst/>
              <a:cxnLst/>
              <a:rect l="l" t="t" r="r" b="b"/>
              <a:pathLst>
                <a:path w="5476875" h="762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5400675" y="0"/>
                  </a:lnTo>
                  <a:cubicBezTo>
                    <a:pt x="5442759" y="0"/>
                    <a:pt x="5476875" y="34116"/>
                    <a:pt x="5476875" y="76200"/>
                  </a:cubicBezTo>
                  <a:lnTo>
                    <a:pt x="547687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29375" y="2124075"/>
              <a:ext cx="1857375" cy="209550"/>
            </a:xfrm>
            <a:prstGeom prst="roundRect">
              <a:avLst>
                <a:gd name="adj" fmla="val 18182"/>
              </a:avLst>
            </a:prstGeom>
            <a:solidFill>
              <a:srgbClr val="ECFDF5"/>
            </a:solidFill>
            <a:ln w="9525">
              <a:solidFill>
                <a:srgbClr val="A7F3D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81762" y="2165350"/>
              <a:ext cx="19455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FIXED INCOME ($520M MV, 29.6%)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72738" y="2165350"/>
              <a:ext cx="8526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BondRevaluator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24041" y="2463800"/>
              <a:ext cx="3058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Modified Duration &amp; Credit Spread Widening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4612" y="2695575"/>
              <a:ext cx="39254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Pricing model: ΔP = -ModDuration × ΔYield - SpreadDuration × ΔSpread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29375" y="2971800"/>
              <a:ext cx="5095875" cy="876300"/>
            </a:xfrm>
            <a:prstGeom prst="roundRect">
              <a:avLst>
                <a:gd name="adj" fmla="val 4348"/>
              </a:avLst>
            </a:prstGeom>
            <a:solidFill>
              <a:schemeClr val="lt1"/>
            </a:solidFill>
            <a:ln w="9525">
              <a:solidFill>
                <a:srgbClr val="E2E8F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38912" y="3079750"/>
              <a:ext cx="9227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Rate Sensitivity: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67612" y="3079750"/>
              <a:ext cx="30503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Shocks yield curve by +75 to +150 bps depending on scenario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38912" y="3308350"/>
              <a:ext cx="10189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Spread Widening: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62862" y="3308350"/>
              <a:ext cx="32288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Credit spreads widen by +120 bps (AAA) to +300 bps (High Yield)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38912" y="3536950"/>
              <a:ext cx="9151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accent3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Convexity Shift: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19988" y="3536950"/>
              <a:ext cx="31812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Second-order convexity preserves long-duration pricing accuracy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76250" y="4171950"/>
              <a:ext cx="5476875" cy="2047875"/>
            </a:xfrm>
            <a:prstGeom prst="roundRect">
              <a:avLst>
                <a:gd name="adj" fmla="val 3721"/>
              </a:avLst>
            </a:prstGeom>
            <a:solidFill>
              <a:schemeClr val="lt2"/>
            </a:solidFill>
            <a:ln w="14288">
              <a:solidFill>
                <a:srgbClr val="CBD5E1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476250" y="4171950"/>
              <a:ext cx="5476875" cy="76200"/>
            </a:xfrm>
            <a:custGeom>
              <a:avLst/>
              <a:gdLst/>
              <a:ahLst/>
              <a:cxnLst/>
              <a:rect l="l" t="t" r="r" b="b"/>
              <a:pathLst>
                <a:path w="5476875" h="762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5400675" y="0"/>
                  </a:lnTo>
                  <a:cubicBezTo>
                    <a:pt x="5442759" y="0"/>
                    <a:pt x="5476875" y="34116"/>
                    <a:pt x="5476875" y="76200"/>
                  </a:cubicBezTo>
                  <a:lnTo>
                    <a:pt x="547687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6750" y="4343400"/>
              <a:ext cx="1571625" cy="209550"/>
            </a:xfrm>
            <a:prstGeom prst="roundRect">
              <a:avLst>
                <a:gd name="adj" fmla="val 18182"/>
              </a:avLst>
            </a:prstGeom>
            <a:solidFill>
              <a:srgbClr val="FEF3C7"/>
            </a:solidFill>
            <a:ln w="9525">
              <a:solidFill>
                <a:srgbClr val="FDE68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9138" y="4384675"/>
              <a:ext cx="15147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LOANS ($310M MV, 17.6%)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57738" y="4384675"/>
              <a:ext cx="8291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LoanRevaluator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1416" y="4683125"/>
              <a:ext cx="2867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Basel III Expected Loss &amp; Rating Migration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1988" y="4914900"/>
              <a:ext cx="3264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Stressed Expected Loss: EL = EAD × (PD × Multiplier) × LGD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6750" y="5191125"/>
              <a:ext cx="5095875" cy="876300"/>
            </a:xfrm>
            <a:prstGeom prst="roundRect">
              <a:avLst>
                <a:gd name="adj" fmla="val 4348"/>
              </a:avLst>
            </a:prstGeom>
            <a:solidFill>
              <a:schemeClr val="lt1"/>
            </a:solidFill>
            <a:ln w="9525">
              <a:solidFill>
                <a:srgbClr val="E2E8F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6288" y="5299075"/>
              <a:ext cx="8185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D97706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PD Multiplier: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662112" y="5299075"/>
              <a:ext cx="31108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Multiplies base probability of default by 1.8x to 3.5x under crisis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6288" y="5527675"/>
              <a:ext cx="1011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D97706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Rating Migration: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852612" y="5527675"/>
              <a:ext cx="35400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Simulates 1-to-2 notch credit downgrades for high-impact events (&gt;= 8)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6288" y="5756275"/>
              <a:ext cx="9054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D97706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Valuation Drag: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709738" y="5756275"/>
              <a:ext cx="33231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Loan market value discounted by incremental expected credit losses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38875" y="4171950"/>
              <a:ext cx="5476875" cy="2047875"/>
            </a:xfrm>
            <a:prstGeom prst="roundRect">
              <a:avLst>
                <a:gd name="adj" fmla="val 3721"/>
              </a:avLst>
            </a:prstGeom>
            <a:solidFill>
              <a:schemeClr val="lt2"/>
            </a:solidFill>
            <a:ln w="14288">
              <a:solidFill>
                <a:srgbClr val="CBD5E1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6238875" y="4171950"/>
              <a:ext cx="5476875" cy="76200"/>
            </a:xfrm>
            <a:custGeom>
              <a:avLst/>
              <a:gdLst/>
              <a:ahLst/>
              <a:cxnLst/>
              <a:rect l="l" t="t" r="r" b="b"/>
              <a:pathLst>
                <a:path w="5476875" h="762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5400675" y="0"/>
                  </a:lnTo>
                  <a:cubicBezTo>
                    <a:pt x="5442759" y="0"/>
                    <a:pt x="5476875" y="34116"/>
                    <a:pt x="5476875" y="76200"/>
                  </a:cubicBezTo>
                  <a:lnTo>
                    <a:pt x="547687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29375" y="4343400"/>
              <a:ext cx="1762125" cy="209550"/>
            </a:xfrm>
            <a:prstGeom prst="roundRect">
              <a:avLst>
                <a:gd name="adj" fmla="val 18182"/>
              </a:avLst>
            </a:prstGeom>
            <a:solidFill>
              <a:srgbClr val="F5F3FF"/>
            </a:solidFill>
            <a:ln w="9525">
              <a:solidFill>
                <a:srgbClr val="DDD6FE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81762" y="4384675"/>
              <a:ext cx="17916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6D28D9"/>
                  </a:solidFill>
                  <a:latin typeface="+mn-lt"/>
                  <a:ea typeface="+mn-ea"/>
                  <a:cs typeface="+mn-cs"/>
                </a:rPr>
                <a:t>DERIVATIVES ($144M MV, 8.2%)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139362" y="4384675"/>
              <a:ext cx="11081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DerivativeRevaluator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24041" y="4683125"/>
              <a:ext cx="29872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Non-Linear Black-Scholes Greek Sensitivities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24612" y="4914900"/>
              <a:ext cx="40428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Non-linear pricing: ΔV = Delta × ΔS + 0.5 × Gamma × (ΔS)² + Vega × ΔVol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29375" y="5191125"/>
              <a:ext cx="5095875" cy="876300"/>
            </a:xfrm>
            <a:prstGeom prst="roundRect">
              <a:avLst>
                <a:gd name="adj" fmla="val 4348"/>
              </a:avLst>
            </a:prstGeom>
            <a:solidFill>
              <a:schemeClr val="lt1"/>
            </a:solidFill>
            <a:ln w="9525">
              <a:solidFill>
                <a:srgbClr val="E2E8F0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38912" y="5299075"/>
              <a:ext cx="9090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7C3AED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rgbClr val="7C3AED"/>
                  </a:solidFill>
                  <a:latin typeface="+mn-lt"/>
                  <a:ea typeface="+mn-ea"/>
                  <a:cs typeface="+mn-cs"/>
                </a:rPr>
                <a:t>Delta / Gamma: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67612" y="5299075"/>
              <a:ext cx="32625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Accurate non-linear revaluation under large underlying price drops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38912" y="5527675"/>
              <a:ext cx="8849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7C3AED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rgbClr val="7C3AED"/>
                  </a:solidFill>
                  <a:latin typeface="+mn-lt"/>
                  <a:ea typeface="+mn-ea"/>
                  <a:cs typeface="+mn-cs"/>
                </a:rPr>
                <a:t>Vega Volatility: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96188" y="5527675"/>
              <a:ext cx="30433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VIX spike adjustments price equity and index options correctly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38912" y="5756275"/>
              <a:ext cx="9912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rgbClr val="7C3AED"/>
                </a:buClr>
                <a:buSzTx/>
                <a:buFontTx/>
                <a:buChar char="•"/>
              </a:pPr>
              <a:r>
                <a:rPr lang="en-US" sz="820" b="1" dirty="0">
                  <a:solidFill>
                    <a:srgbClr val="7C3AED"/>
                  </a:solidFill>
                  <a:latin typeface="+mn-lt"/>
                  <a:ea typeface="+mn-ea"/>
                  <a:cs typeface="+mn-cs"/>
                </a:rPr>
                <a:t>Swaps &amp; Futures: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96188" y="5756275"/>
              <a:ext cx="334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Interest rate swaps revalued on stressed benchmark zero-rate curves</a:t>
              </a:r>
            </a:p>
          </p:txBody>
        </p:sp>
      </p:grpSp>
      <p:grpSp>
        <p:nvGrpSpPr>
          <p:cNvPr id="80" name="page-footer"/>
          <p:cNvGrpSpPr/>
          <p:nvPr/>
        </p:nvGrpSpPr>
        <p:grpSpPr>
          <a:xfrm>
            <a:off x="471488" y="6429375"/>
            <a:ext cx="11249025" cy="250825"/>
            <a:chOff x="471488" y="6429375"/>
            <a:chExt cx="11249025" cy="250825"/>
          </a:xfrm>
        </p:grpSpPr>
        <p:sp>
          <p:nvSpPr>
            <p:cNvPr id="77" name="Line 77"/>
            <p:cNvSpPr/>
            <p:nvPr/>
          </p:nvSpPr>
          <p:spPr>
            <a:xfrm>
              <a:off x="476250" y="6429375"/>
              <a:ext cx="11239500" cy="9525"/>
            </a:xfrm>
            <a:custGeom>
              <a:avLst/>
              <a:gdLst/>
              <a:ahLst/>
              <a:cxnLst/>
              <a:rect l="l" t="t" r="r" b="b"/>
              <a:pathLst>
                <a:path w="11239500" h="9525">
                  <a:moveTo>
                    <a:pt x="0" y="0"/>
                  </a:moveTo>
                  <a:lnTo>
                    <a:pt x="1123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71488" y="6518275"/>
              <a:ext cx="35611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RiskEngine • Real-Time Portfolio Stress Testing &amp; Risk Analytics Platform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056688" y="6518275"/>
              <a:ext cx="663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Slide 04 / 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backgroun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F1F5F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6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nav-category"/>
          <p:cNvGrpSpPr/>
          <p:nvPr/>
        </p:nvGrpSpPr>
        <p:grpSpPr>
          <a:xfrm>
            <a:off x="476250" y="333375"/>
            <a:ext cx="2381250" cy="247650"/>
            <a:chOff x="476250" y="333375"/>
            <a:chExt cx="2381250" cy="247650"/>
          </a:xfrm>
        </p:grpSpPr>
        <p:sp>
          <p:nvSpPr>
            <p:cNvPr id="5" name="Rectangle 5"/>
            <p:cNvSpPr/>
            <p:nvPr/>
          </p:nvSpPr>
          <p:spPr>
            <a:xfrm>
              <a:off x="476250" y="333375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>
              <a:solidFill>
                <a:schemeClr val="dk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581025" y="4191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8188" y="393700"/>
              <a:ext cx="18545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38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 // ENGINEERING DEEP-DIVE</a:t>
              </a:r>
            </a:p>
          </p:txBody>
        </p:sp>
      </p:grpSp>
      <p:grpSp>
        <p:nvGrpSpPr>
          <p:cNvPr id="11" name="title-header"/>
          <p:cNvGrpSpPr/>
          <p:nvPr/>
        </p:nvGrpSpPr>
        <p:grpSpPr>
          <a:xfrm>
            <a:off x="464058" y="698500"/>
            <a:ext cx="6506280" cy="618109"/>
            <a:chOff x="464058" y="698500"/>
            <a:chExt cx="6506280" cy="618109"/>
          </a:xfrm>
        </p:grpSpPr>
        <p:sp>
          <p:nvSpPr>
            <p:cNvPr id="9" name="TextBox 9"/>
            <p:cNvSpPr txBox="1"/>
            <p:nvPr/>
          </p:nvSpPr>
          <p:spPr>
            <a:xfrm>
              <a:off x="464058" y="698500"/>
              <a:ext cx="65062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spc="-2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Core Engineering Challenges &amp; Resolutions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0916" y="1111250"/>
              <a:ext cx="55924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Solving Valuation Flatlines, High-Frequency Streaming Concurrency &amp; AI Resiliency</a:t>
              </a:r>
            </a:p>
          </p:txBody>
        </p:sp>
      </p:grpSp>
      <p:grpSp>
        <p:nvGrpSpPr>
          <p:cNvPr id="69" name="challenges-grid"/>
          <p:cNvGrpSpPr/>
          <p:nvPr/>
        </p:nvGrpSpPr>
        <p:grpSpPr>
          <a:xfrm>
            <a:off x="476250" y="1409700"/>
            <a:ext cx="11239500" cy="4810125"/>
            <a:chOff x="476250" y="1409700"/>
            <a:chExt cx="11239500" cy="4810125"/>
          </a:xfrm>
        </p:grpSpPr>
        <p:sp>
          <p:nvSpPr>
            <p:cNvPr id="12" name="Rectangle 12"/>
            <p:cNvSpPr/>
            <p:nvPr/>
          </p:nvSpPr>
          <p:spPr>
            <a:xfrm>
              <a:off x="476250" y="1409700"/>
              <a:ext cx="3524250" cy="4810125"/>
            </a:xfrm>
            <a:prstGeom prst="roundRect">
              <a:avLst>
                <a:gd name="adj" fmla="val 2703"/>
              </a:avLst>
            </a:prstGeom>
            <a:solidFill>
              <a:schemeClr val="lt2"/>
            </a:solidFill>
            <a:ln w="14288">
              <a:solidFill>
                <a:srgbClr val="CBD5E1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76250" y="1409700"/>
              <a:ext cx="3524250" cy="95250"/>
            </a:xfrm>
            <a:custGeom>
              <a:avLst/>
              <a:gdLst/>
              <a:ahLst/>
              <a:cxnLst/>
              <a:rect l="l" t="t" r="r" b="b"/>
              <a:pathLst>
                <a:path w="3524250" h="9525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E11D4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66750" y="1600200"/>
              <a:ext cx="1238250" cy="228600"/>
            </a:xfrm>
            <a:prstGeom prst="roundRect">
              <a:avLst>
                <a:gd name="adj" fmla="val 16667"/>
              </a:avLst>
            </a:prstGeom>
            <a:solidFill>
              <a:srgbClr val="FFE4E6"/>
            </a:solidFill>
            <a:ln w="9525">
              <a:solidFill>
                <a:srgbClr val="FECDD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8188" y="1651000"/>
              <a:ext cx="838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BE123C"/>
                  </a:solidFill>
                  <a:latin typeface="+mn-lt"/>
                  <a:ea typeface="+mn-ea"/>
                  <a:cs typeface="+mn-cs"/>
                </a:rPr>
                <a:t>CHALLENGE 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9892" y="1949450"/>
              <a:ext cx="19580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Historical Flatline Path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66750" y="2305050"/>
              <a:ext cx="3143250" cy="1428750"/>
            </a:xfrm>
            <a:prstGeom prst="roundRect">
              <a:avLst>
                <a:gd name="adj" fmla="val 4000"/>
              </a:avLst>
            </a:prstGeom>
            <a:solidFill>
              <a:srgbClr val="FFF1F2"/>
            </a:solidFill>
            <a:ln w="9525">
              <a:solidFill>
                <a:srgbClr val="FECDD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6288" y="2422525"/>
              <a:ext cx="14216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BE123C"/>
                  </a:solidFill>
                  <a:latin typeface="+mn-lt"/>
                  <a:ea typeface="+mn-ea"/>
                  <a:cs typeface="+mn-cs"/>
                </a:rPr>
                <a:t>ROOT CAUSE IDENTIFIED: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6288" y="2641600"/>
              <a:ext cx="26590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AppliedShocks used static constants without nuance.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6288" y="2946400"/>
              <a:ext cx="24499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Identical figures produced across distinct events.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6288" y="3251200"/>
              <a:ext cx="24921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Recharts collapsed points; Y-axis had zero height.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6750" y="3857625"/>
              <a:ext cx="3143250" cy="2190750"/>
            </a:xfrm>
            <a:prstGeom prst="roundRect">
              <a:avLst>
                <a:gd name="adj" fmla="val 2609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6288" y="3975100"/>
              <a:ext cx="16193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RESOLUTION IMPLEMENTED: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6288" y="4203700"/>
              <a:ext cx="19260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 Deterministic Headline Sensitivity: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6288" y="4394200"/>
              <a:ext cx="26589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Calculated ±6% sensitivity variance from headline text.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6288" y="4679950"/>
              <a:ext cx="18137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 Unique X-Axis Run Coordinates: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6288" y="4870450"/>
              <a:ext cx="27222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Keyed points by #N (HH:mm:ss) to eliminate collapsing.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6288" y="5156200"/>
              <a:ext cx="19244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3. Padded Domains &amp; Metric Switch: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6288" y="5346700"/>
              <a:ext cx="25880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Added Y padding, baseline line, and $B vs % toggles.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6288" y="5689600"/>
              <a:ext cx="22774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✓ Smooth, dynamic valuation path verified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333875" y="1409700"/>
              <a:ext cx="3524250" cy="4810125"/>
            </a:xfrm>
            <a:prstGeom prst="roundRect">
              <a:avLst>
                <a:gd name="adj" fmla="val 2703"/>
              </a:avLst>
            </a:prstGeom>
            <a:solidFill>
              <a:schemeClr val="lt2"/>
            </a:solidFill>
            <a:ln w="14288">
              <a:solidFill>
                <a:srgbClr val="CBD5E1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333875" y="1409700"/>
              <a:ext cx="3524250" cy="95250"/>
            </a:xfrm>
            <a:custGeom>
              <a:avLst/>
              <a:gdLst/>
              <a:ahLst/>
              <a:cxnLst/>
              <a:rect l="l" t="t" r="r" b="b"/>
              <a:pathLst>
                <a:path w="3524250" h="9525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24375" y="1600200"/>
              <a:ext cx="1238250" cy="228600"/>
            </a:xfrm>
            <a:prstGeom prst="roundRect">
              <a:avLst>
                <a:gd name="adj" fmla="val 16667"/>
              </a:avLst>
            </a:prstGeom>
            <a:solidFill>
              <a:srgbClr val="FEF3C7"/>
            </a:solidFill>
            <a:ln w="9525">
              <a:solidFill>
                <a:srgbClr val="FDE68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95812" y="1651000"/>
              <a:ext cx="838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CHALLENGE 02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7517" y="1949450"/>
              <a:ext cx="2330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High-Frequency Streaming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524375" y="2305050"/>
              <a:ext cx="3143250" cy="1428750"/>
            </a:xfrm>
            <a:prstGeom prst="roundRect">
              <a:avLst>
                <a:gd name="adj" fmla="val 4000"/>
              </a:avLst>
            </a:prstGeom>
            <a:solidFill>
              <a:srgbClr val="FFFBEB"/>
            </a:solidFill>
            <a:ln w="9525">
              <a:solidFill>
                <a:srgbClr val="FDE68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33912" y="2422525"/>
              <a:ext cx="14216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ROOT CAUSE IDENTIFIED: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33912" y="2641600"/>
              <a:ext cx="25148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Continuous replays fired identical news items fast.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33912" y="2946400"/>
              <a:ext cx="25862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Caused trigger storms and state desynchronization.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33912" y="3251200"/>
              <a:ext cx="22753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Reset signal didn't purge stale stress records.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524375" y="3857625"/>
              <a:ext cx="3143250" cy="2190750"/>
            </a:xfrm>
            <a:prstGeom prst="roundRect">
              <a:avLst>
                <a:gd name="adj" fmla="val 2609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633912" y="3975100"/>
              <a:ext cx="16193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RESOLUTION IMPLEMENTED: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33912" y="4203700"/>
              <a:ext cx="18236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 Atomic Debounce Management: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33912" y="4394200"/>
              <a:ext cx="29230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ConcurrentHashMap tracking per EventType (30m window).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33912" y="4679950"/>
              <a:ext cx="16864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 Intelligent Severity Upgrades: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33912" y="4870450"/>
              <a:ext cx="22836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Suppresses noise, but fires if severity escalates.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33912" y="5156200"/>
              <a:ext cx="16427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3. Coordinated Database Reset: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33912" y="5346700"/>
              <a:ext cx="26432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Injected StressService into SignalService to wipe state.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33912" y="5689600"/>
              <a:ext cx="20479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✓ Predictable, repeatable signal replay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191500" y="1409700"/>
              <a:ext cx="3524250" cy="4810125"/>
            </a:xfrm>
            <a:prstGeom prst="roundRect">
              <a:avLst>
                <a:gd name="adj" fmla="val 2703"/>
              </a:avLst>
            </a:prstGeom>
            <a:solidFill>
              <a:schemeClr val="lt2"/>
            </a:solidFill>
            <a:ln w="14288">
              <a:solidFill>
                <a:srgbClr val="CBD5E1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191500" y="1409700"/>
              <a:ext cx="3524250" cy="95250"/>
            </a:xfrm>
            <a:custGeom>
              <a:avLst/>
              <a:gdLst/>
              <a:ahLst/>
              <a:cxnLst/>
              <a:rect l="l" t="t" r="r" b="b"/>
              <a:pathLst>
                <a:path w="3524250" h="9525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382000" y="1600200"/>
              <a:ext cx="1238250" cy="228600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53438" y="1651000"/>
              <a:ext cx="838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CHALLENGE 03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75142" y="1949450"/>
              <a:ext cx="2027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Resiliency &amp; Latency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382000" y="2305050"/>
              <a:ext cx="3143250" cy="1428750"/>
            </a:xfrm>
            <a:prstGeom prst="roundRect">
              <a:avLst>
                <a:gd name="adj" fmla="val 4000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91538" y="2422525"/>
              <a:ext cx="14216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ROOT CAUSE IDENTIFIED: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91538" y="2641600"/>
              <a:ext cx="26139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External GDELT news requests face network latency.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91538" y="2946400"/>
              <a:ext cx="23764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sidecar cold starts risked engine delays.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91538" y="3251200"/>
              <a:ext cx="24382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76200" indent="-76200" algn="l">
                <a:buClr>
                  <a:schemeClr val="dk1"/>
                </a:buClr>
                <a:buSzTx/>
                <a:buFontTx/>
                <a:buChar char="•"/>
              </a:pPr>
              <a:r>
                <a:rPr lang="en-US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Entire pipeline risked stalling on service timeout.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382000" y="3857625"/>
              <a:ext cx="3143250" cy="2190750"/>
            </a:xfrm>
            <a:prstGeom prst="roundRect">
              <a:avLst>
                <a:gd name="adj" fmla="val 2609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491538" y="3975100"/>
              <a:ext cx="16193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RESOLUTION IMPLEMENTED: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91538" y="4203700"/>
              <a:ext cx="18645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 Dual-Layer Fallback Architecture: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491538" y="4394200"/>
              <a:ext cx="24387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Python sidecar primary + native Java rule fallback.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91538" y="4679950"/>
              <a:ext cx="15967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 Bundled Offline Data Feeds: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91538" y="4870450"/>
              <a:ext cx="22542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Automatic offline fallback if live APIs time out.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91538" y="5156200"/>
              <a:ext cx="17226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3. 90% Fallback Accuracy Tested: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91538" y="5346700"/>
              <a:ext cx="22132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Tests verify 90% accuracy with sidecar offline.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91538" y="5689600"/>
              <a:ext cx="2097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✓ 100% operational uptime guaranteed</a:t>
              </a:r>
            </a:p>
          </p:txBody>
        </p:sp>
      </p:grpSp>
      <p:grpSp>
        <p:nvGrpSpPr>
          <p:cNvPr id="73" name="page-footer"/>
          <p:cNvGrpSpPr/>
          <p:nvPr/>
        </p:nvGrpSpPr>
        <p:grpSpPr>
          <a:xfrm>
            <a:off x="471488" y="6429375"/>
            <a:ext cx="11249025" cy="250825"/>
            <a:chOff x="471488" y="6429375"/>
            <a:chExt cx="11249025" cy="250825"/>
          </a:xfrm>
        </p:grpSpPr>
        <p:sp>
          <p:nvSpPr>
            <p:cNvPr id="70" name="Line 70"/>
            <p:cNvSpPr/>
            <p:nvPr/>
          </p:nvSpPr>
          <p:spPr>
            <a:xfrm>
              <a:off x="476250" y="6429375"/>
              <a:ext cx="11239500" cy="9525"/>
            </a:xfrm>
            <a:custGeom>
              <a:avLst/>
              <a:gdLst/>
              <a:ahLst/>
              <a:cxnLst/>
              <a:rect l="l" t="t" r="r" b="b"/>
              <a:pathLst>
                <a:path w="11239500" h="9525">
                  <a:moveTo>
                    <a:pt x="0" y="0"/>
                  </a:moveTo>
                  <a:lnTo>
                    <a:pt x="1123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71488" y="6518275"/>
              <a:ext cx="35611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RiskEngine • Real-Time Portfolio Stress Testing &amp; Risk Analytics Platform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56688" y="6518275"/>
              <a:ext cx="663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Slide 05 / 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background"/>
          <p:cNvGrpSpPr/>
          <p:nvPr/>
        </p:nvGrpSpPr>
        <p:grpSpPr>
          <a:xfrm>
            <a:off x="6096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F1F5F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6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nav-category"/>
          <p:cNvGrpSpPr/>
          <p:nvPr/>
        </p:nvGrpSpPr>
        <p:grpSpPr>
          <a:xfrm>
            <a:off x="476250" y="333375"/>
            <a:ext cx="2381250" cy="247650"/>
            <a:chOff x="476250" y="333375"/>
            <a:chExt cx="2381250" cy="247650"/>
          </a:xfrm>
        </p:grpSpPr>
        <p:sp>
          <p:nvSpPr>
            <p:cNvPr id="5" name="Rectangle 5"/>
            <p:cNvSpPr/>
            <p:nvPr/>
          </p:nvSpPr>
          <p:spPr>
            <a:xfrm>
              <a:off x="476250" y="333375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>
              <a:solidFill>
                <a:schemeClr val="dk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581025" y="4191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8188" y="393700"/>
              <a:ext cx="18933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38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 // BENCHMARKS &amp; RESULTS</a:t>
              </a:r>
            </a:p>
          </p:txBody>
        </p:sp>
      </p:grpSp>
      <p:grpSp>
        <p:nvGrpSpPr>
          <p:cNvPr id="11" name="title-header"/>
          <p:cNvGrpSpPr/>
          <p:nvPr/>
        </p:nvGrpSpPr>
        <p:grpSpPr>
          <a:xfrm>
            <a:off x="464058" y="698500"/>
            <a:ext cx="6854836" cy="618109"/>
            <a:chOff x="464058" y="698500"/>
            <a:chExt cx="6854836" cy="618109"/>
          </a:xfrm>
        </p:grpSpPr>
        <p:sp>
          <p:nvSpPr>
            <p:cNvPr id="9" name="TextBox 9"/>
            <p:cNvSpPr txBox="1"/>
            <p:nvPr/>
          </p:nvSpPr>
          <p:spPr>
            <a:xfrm>
              <a:off x="464058" y="698500"/>
              <a:ext cx="68548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spc="-2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Performance Benchmarks &amp; Empirical Results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0916" y="1111250"/>
              <a:ext cx="57981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Sub-200ms Revaluation Latency Across 200 Positions with 100% Verified Quality Rigor</a:t>
              </a:r>
            </a:p>
          </p:txBody>
        </p:sp>
      </p:grpSp>
      <p:grpSp>
        <p:nvGrpSpPr>
          <p:cNvPr id="28" name="benchmarks-tiles"/>
          <p:cNvGrpSpPr/>
          <p:nvPr/>
        </p:nvGrpSpPr>
        <p:grpSpPr>
          <a:xfrm>
            <a:off x="476250" y="1409700"/>
            <a:ext cx="11239500" cy="1428750"/>
            <a:chOff x="476250" y="1409700"/>
            <a:chExt cx="11239500" cy="1428750"/>
          </a:xfrm>
        </p:grpSpPr>
        <p:sp>
          <p:nvSpPr>
            <p:cNvPr id="12" name="Rectangle 12"/>
            <p:cNvSpPr/>
            <p:nvPr/>
          </p:nvSpPr>
          <p:spPr>
            <a:xfrm>
              <a:off x="476250" y="1409700"/>
              <a:ext cx="2619375" cy="1428750"/>
            </a:xfrm>
            <a:prstGeom prst="roundRect">
              <a:avLst>
                <a:gd name="adj" fmla="val 5333"/>
              </a:avLst>
            </a:prstGeom>
            <a:solidFill>
              <a:schemeClr val="accen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0372" y="1549400"/>
              <a:ext cx="169418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&lt; 200 ms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9516" y="2111375"/>
              <a:ext cx="15153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End-to-End Stress Run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0088" y="2374900"/>
              <a:ext cx="1845057" cy="252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Full 200 multi-asset position revaluation</a:t>
              </a:r>
            </a:p>
            <a:p>
              <a:pPr algn="l"/>
              <a:r>
                <a:rPr lang="en-US" sz="8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across all pricing models.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352800" y="1409700"/>
              <a:ext cx="2619375" cy="1428750"/>
            </a:xfrm>
            <a:prstGeom prst="roundRect">
              <a:avLst>
                <a:gd name="adj" fmla="val 5333"/>
              </a:avLst>
            </a:prstGeom>
            <a:solidFill>
              <a:schemeClr val="accen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566922" y="1549400"/>
              <a:ext cx="129352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15 / 15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76066" y="2111375"/>
              <a:ext cx="15040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Backend Tests Passing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76638" y="2374900"/>
              <a:ext cx="2127185" cy="252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 failures, 0 errors across stress monotonicity, </a:t>
              </a:r>
            </a:p>
            <a:p>
              <a:pPr algn="l"/>
              <a:r>
                <a:rPr lang="en-US" sz="8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pricing &amp; NLP.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29350" y="1409700"/>
              <a:ext cx="2619375" cy="1428750"/>
            </a:xfrm>
            <a:prstGeom prst="roundRect">
              <a:avLst>
                <a:gd name="adj" fmla="val 5333"/>
              </a:avLst>
            </a:prstGeom>
            <a:solidFill>
              <a:schemeClr val="accen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43472" y="1549400"/>
              <a:ext cx="16764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$1.759 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2616" y="2111375"/>
              <a:ext cx="17041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Portfolio Capital Covered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3188" y="2374900"/>
              <a:ext cx="1598194" cy="252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Equities, Fixed Income, Loans, and </a:t>
              </a:r>
            </a:p>
            <a:p>
              <a:pPr algn="l"/>
              <a:r>
                <a:rPr lang="en-US" sz="8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Non-Linear Derivatives.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096375" y="1409700"/>
              <a:ext cx="2619375" cy="1428750"/>
            </a:xfrm>
            <a:prstGeom prst="roundRect">
              <a:avLst>
                <a:gd name="adj" fmla="val 5333"/>
              </a:avLst>
            </a:prstGeom>
            <a:solidFill>
              <a:schemeClr val="accen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10497" y="1549400"/>
              <a:ext cx="112958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A7F3D0"/>
                  </a:solidFill>
                  <a:latin typeface="+mn-lt"/>
                  <a:ea typeface="+mn-ea"/>
                  <a:cs typeface="+mn-cs"/>
                </a:rPr>
                <a:t>100 %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19641" y="2111375"/>
              <a:ext cx="14724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Docker Health Checks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20212" y="2374900"/>
              <a:ext cx="20017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All 3 services running with auto recovery.</a:t>
              </a:r>
            </a:p>
          </p:txBody>
        </p:sp>
      </p:grpSp>
      <p:grpSp>
        <p:nvGrpSpPr>
          <p:cNvPr id="77" name="benchmarks-table"/>
          <p:cNvGrpSpPr/>
          <p:nvPr/>
        </p:nvGrpSpPr>
        <p:grpSpPr>
          <a:xfrm>
            <a:off x="476250" y="3048000"/>
            <a:ext cx="11239500" cy="3143250"/>
            <a:chOff x="476250" y="3048000"/>
            <a:chExt cx="11239500" cy="3143250"/>
          </a:xfrm>
        </p:grpSpPr>
        <p:sp>
          <p:nvSpPr>
            <p:cNvPr id="29" name="Rectangle 29"/>
            <p:cNvSpPr/>
            <p:nvPr/>
          </p:nvSpPr>
          <p:spPr>
            <a:xfrm>
              <a:off x="476250" y="3048000"/>
              <a:ext cx="11239500" cy="3143250"/>
            </a:xfrm>
            <a:prstGeom prst="roundRect">
              <a:avLst>
                <a:gd name="adj" fmla="val 3030"/>
              </a:avLst>
            </a:prstGeom>
            <a:solidFill>
              <a:schemeClr val="lt2"/>
            </a:solidFill>
            <a:ln w="14288">
              <a:solidFill>
                <a:srgbClr val="CBD5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9041" y="3225800"/>
              <a:ext cx="3721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Empirical Crisis Revaluation Results (Verified Live Runs)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14375" y="3524250"/>
              <a:ext cx="10763250" cy="3048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2488" y="3622675"/>
              <a:ext cx="9800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SCENARIO EVENT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57488" y="3622675"/>
              <a:ext cx="5290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SEVERITY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05238" y="3622675"/>
              <a:ext cx="6917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BASE VALUE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33988" y="3622675"/>
              <a:ext cx="9582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STRESSED VALUE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48488" y="3622675"/>
              <a:ext cx="14255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PORTFOLIO DRAWDOWN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43988" y="3622675"/>
              <a:ext cx="14479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PRIMARY TRANSMISSION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2488" y="3962400"/>
              <a:ext cx="14715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CREDIT DEFAULT EVENT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724150" y="3943350"/>
              <a:ext cx="762000" cy="190500"/>
            </a:xfrm>
            <a:prstGeom prst="roundRect">
              <a:avLst>
                <a:gd name="adj" fmla="val 15000"/>
              </a:avLst>
            </a:prstGeom>
            <a:solidFill>
              <a:srgbClr val="FFE4E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757488" y="3975100"/>
              <a:ext cx="7093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BE123C"/>
                  </a:solidFill>
                  <a:latin typeface="+mn-lt"/>
                  <a:ea typeface="+mn-ea"/>
                  <a:cs typeface="+mn-cs"/>
                </a:rPr>
                <a:t>Impact 10/10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05238" y="3962400"/>
              <a:ext cx="6981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$1,759.09 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33988" y="3962400"/>
              <a:ext cx="752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$1,508.24 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48488" y="3962400"/>
              <a:ext cx="12084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BE123C"/>
                  </a:solidFill>
                  <a:latin typeface="+mn-lt"/>
                  <a:ea typeface="+mn-ea"/>
                  <a:cs typeface="+mn-cs"/>
                </a:rPr>
                <a:t>-14.26% (-$250.8M)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43988" y="3975100"/>
              <a:ext cx="22331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High Yield spreads +300bp, loan downgrades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14375" y="4238625"/>
              <a:ext cx="10763250" cy="9525"/>
            </a:xfrm>
            <a:custGeom>
              <a:avLst/>
              <a:gdLst/>
              <a:ahLst/>
              <a:cxnLst/>
              <a:rect l="l" t="t" r="r" b="b"/>
              <a:pathLst>
                <a:path w="10763250" h="9525">
                  <a:moveTo>
                    <a:pt x="0" y="0"/>
                  </a:moveTo>
                  <a:lnTo>
                    <a:pt x="1076325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2488" y="4391025"/>
              <a:ext cx="16377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MACRO INFLATION SURGE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724150" y="4371975"/>
              <a:ext cx="723900" cy="190500"/>
            </a:xfrm>
            <a:prstGeom prst="roundRect">
              <a:avLst>
                <a:gd name="adj" fmla="val 15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757488" y="4403725"/>
              <a:ext cx="6452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Impact 8/10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805238" y="4391025"/>
              <a:ext cx="6981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$1,759.09 M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33988" y="4391025"/>
              <a:ext cx="752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$1,567.66 M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48488" y="4391025"/>
              <a:ext cx="12084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BE123C"/>
                  </a:solidFill>
                  <a:latin typeface="+mn-lt"/>
                  <a:ea typeface="+mn-ea"/>
                  <a:cs typeface="+mn-cs"/>
                </a:rPr>
                <a:t>-10.88% (-$191.4M)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43988" y="4403725"/>
              <a:ext cx="21533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Yield curve +120bp shift, tech equities -14%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714375" y="4667250"/>
              <a:ext cx="10763250" cy="9525"/>
            </a:xfrm>
            <a:custGeom>
              <a:avLst/>
              <a:gdLst/>
              <a:ahLst/>
              <a:cxnLst/>
              <a:rect l="l" t="t" r="r" b="b"/>
              <a:pathLst>
                <a:path w="10763250" h="9525">
                  <a:moveTo>
                    <a:pt x="0" y="0"/>
                  </a:moveTo>
                  <a:lnTo>
                    <a:pt x="1076325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52488" y="4819650"/>
              <a:ext cx="17992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GEOPOLITICAL WAR / STRAIT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724150" y="4800600"/>
              <a:ext cx="723900" cy="190500"/>
            </a:xfrm>
            <a:prstGeom prst="roundRect">
              <a:avLst>
                <a:gd name="adj" fmla="val 15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757488" y="4832350"/>
              <a:ext cx="6452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Impact 9/10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805238" y="4819650"/>
              <a:ext cx="6981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$1,759.09 M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233988" y="4819650"/>
              <a:ext cx="752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$1,618.32 M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48488" y="4819650"/>
              <a:ext cx="1134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BE123C"/>
                  </a:solidFill>
                  <a:latin typeface="+mn-lt"/>
                  <a:ea typeface="+mn-ea"/>
                  <a:cs typeface="+mn-cs"/>
                </a:rPr>
                <a:t>-8.00% (-$140.7M)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043988" y="4832350"/>
              <a:ext cx="21743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Crude oil +25% spike, equity beta contagion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714375" y="5095875"/>
              <a:ext cx="10763250" cy="9525"/>
            </a:xfrm>
            <a:custGeom>
              <a:avLst/>
              <a:gdLst/>
              <a:ahLst/>
              <a:cxnLst/>
              <a:rect l="l" t="t" r="r" b="b"/>
              <a:pathLst>
                <a:path w="10763250" h="9525">
                  <a:moveTo>
                    <a:pt x="0" y="0"/>
                  </a:moveTo>
                  <a:lnTo>
                    <a:pt x="1076325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2488" y="5248275"/>
              <a:ext cx="17564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NATURAL DISASTER / CYBER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724150" y="5229225"/>
              <a:ext cx="723900" cy="190500"/>
            </a:xfrm>
            <a:prstGeom prst="roundRect">
              <a:avLst>
                <a:gd name="adj" fmla="val 1500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757488" y="5260975"/>
              <a:ext cx="6452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Impact 8/10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805238" y="5248275"/>
              <a:ext cx="6981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$1,759.09 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233988" y="5248275"/>
              <a:ext cx="752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$1,698.74 M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948488" y="5248275"/>
              <a:ext cx="10612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BE123C"/>
                  </a:solidFill>
                  <a:latin typeface="+mn-lt"/>
                  <a:ea typeface="+mn-ea"/>
                  <a:cs typeface="+mn-cs"/>
                </a:rPr>
                <a:t>-3.43% (-$60.3M)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43988" y="5260975"/>
              <a:ext cx="19715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Utilities &amp; regional infra operational loss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714375" y="5524500"/>
              <a:ext cx="10763250" cy="9525"/>
            </a:xfrm>
            <a:custGeom>
              <a:avLst/>
              <a:gdLst/>
              <a:ahLst/>
              <a:cxnLst/>
              <a:rect l="l" t="t" r="r" b="b"/>
              <a:pathLst>
                <a:path w="10763250" h="9525">
                  <a:moveTo>
                    <a:pt x="0" y="0"/>
                  </a:moveTo>
                  <a:lnTo>
                    <a:pt x="1076325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2488" y="5676900"/>
              <a:ext cx="17757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REGULATORY CAPITAL SHIFT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724150" y="5657850"/>
              <a:ext cx="723900" cy="190500"/>
            </a:xfrm>
            <a:prstGeom prst="roundRect">
              <a:avLst>
                <a:gd name="adj" fmla="val 1500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757488" y="5689600"/>
              <a:ext cx="6452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Impact 8/10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805238" y="5676900"/>
              <a:ext cx="6981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$1,759.09 M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233988" y="5676900"/>
              <a:ext cx="752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$1,704.10 M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948488" y="5676900"/>
              <a:ext cx="10612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BE123C"/>
                  </a:solidFill>
                  <a:latin typeface="+mn-lt"/>
                  <a:ea typeface="+mn-ea"/>
                  <a:cs typeface="+mn-cs"/>
                </a:rPr>
                <a:t>-3.13% (-$55.0M)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43988" y="5689600"/>
              <a:ext cx="22001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Bank equity revaluation &amp; capital buffer drag</a:t>
              </a:r>
            </a:p>
          </p:txBody>
        </p:sp>
      </p:grpSp>
      <p:grpSp>
        <p:nvGrpSpPr>
          <p:cNvPr id="81" name="page-footer"/>
          <p:cNvGrpSpPr/>
          <p:nvPr/>
        </p:nvGrpSpPr>
        <p:grpSpPr>
          <a:xfrm>
            <a:off x="471488" y="6429375"/>
            <a:ext cx="11249025" cy="250825"/>
            <a:chOff x="471488" y="6429375"/>
            <a:chExt cx="11249025" cy="250825"/>
          </a:xfrm>
        </p:grpSpPr>
        <p:sp>
          <p:nvSpPr>
            <p:cNvPr id="78" name="Line 78"/>
            <p:cNvSpPr/>
            <p:nvPr/>
          </p:nvSpPr>
          <p:spPr>
            <a:xfrm>
              <a:off x="476250" y="6429375"/>
              <a:ext cx="11239500" cy="9525"/>
            </a:xfrm>
            <a:custGeom>
              <a:avLst/>
              <a:gdLst/>
              <a:ahLst/>
              <a:cxnLst/>
              <a:rect l="l" t="t" r="r" b="b"/>
              <a:pathLst>
                <a:path w="11239500" h="9525">
                  <a:moveTo>
                    <a:pt x="0" y="0"/>
                  </a:moveTo>
                  <a:lnTo>
                    <a:pt x="1123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471488" y="6518275"/>
              <a:ext cx="35611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RiskEngine • Real-Time Portfolio Stress Testing &amp; Risk Analytics Platform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056688" y="6518275"/>
              <a:ext cx="663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Slide 06 / 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backgroun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F1F5F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6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nav-category"/>
          <p:cNvGrpSpPr/>
          <p:nvPr/>
        </p:nvGrpSpPr>
        <p:grpSpPr>
          <a:xfrm>
            <a:off x="476250" y="333375"/>
            <a:ext cx="2381250" cy="247650"/>
            <a:chOff x="476250" y="333375"/>
            <a:chExt cx="2381250" cy="247650"/>
          </a:xfrm>
        </p:grpSpPr>
        <p:sp>
          <p:nvSpPr>
            <p:cNvPr id="5" name="Rectangle 5"/>
            <p:cNvSpPr/>
            <p:nvPr/>
          </p:nvSpPr>
          <p:spPr>
            <a:xfrm>
              <a:off x="476250" y="333375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>
              <a:solidFill>
                <a:schemeClr val="dk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581025" y="4191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8188" y="393700"/>
              <a:ext cx="19609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38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 // CONCLUSION &amp; ROADMAP</a:t>
              </a:r>
            </a:p>
          </p:txBody>
        </p:sp>
      </p:grpSp>
      <p:grpSp>
        <p:nvGrpSpPr>
          <p:cNvPr id="11" name="title-header"/>
          <p:cNvGrpSpPr/>
          <p:nvPr/>
        </p:nvGrpSpPr>
        <p:grpSpPr>
          <a:xfrm>
            <a:off x="464058" y="698500"/>
            <a:ext cx="6582868" cy="618109"/>
            <a:chOff x="464058" y="698500"/>
            <a:chExt cx="6582868" cy="618109"/>
          </a:xfrm>
        </p:grpSpPr>
        <p:sp>
          <p:nvSpPr>
            <p:cNvPr id="9" name="TextBox 9"/>
            <p:cNvSpPr txBox="1"/>
            <p:nvPr/>
          </p:nvSpPr>
          <p:spPr>
            <a:xfrm>
              <a:off x="464058" y="698500"/>
              <a:ext cx="65828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spc="-2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Production Readiness &amp; Strategic Roadmap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0916" y="1111250"/>
              <a:ext cx="5055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Enterprise Compliance, Turnkey Orchestration &amp; Future Analytical Horizons</a:t>
              </a:r>
            </a:p>
          </p:txBody>
        </p:sp>
      </p:grpSp>
      <p:grpSp>
        <p:nvGrpSpPr>
          <p:cNvPr id="46" name="roadmap-columns"/>
          <p:cNvGrpSpPr/>
          <p:nvPr/>
        </p:nvGrpSpPr>
        <p:grpSpPr>
          <a:xfrm>
            <a:off x="476250" y="1409700"/>
            <a:ext cx="11239500" cy="4810125"/>
            <a:chOff x="476250" y="1409700"/>
            <a:chExt cx="11239500" cy="4810125"/>
          </a:xfrm>
        </p:grpSpPr>
        <p:sp>
          <p:nvSpPr>
            <p:cNvPr id="12" name="Rectangle 12"/>
            <p:cNvSpPr/>
            <p:nvPr/>
          </p:nvSpPr>
          <p:spPr>
            <a:xfrm>
              <a:off x="476250" y="1409700"/>
              <a:ext cx="5476875" cy="4810125"/>
            </a:xfrm>
            <a:prstGeom prst="roundRect">
              <a:avLst>
                <a:gd name="adj" fmla="val 1980"/>
              </a:avLst>
            </a:prstGeom>
            <a:solidFill>
              <a:schemeClr val="lt2"/>
            </a:solidFill>
            <a:ln w="14288">
              <a:solidFill>
                <a:srgbClr val="CBD5E1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76250" y="1409700"/>
              <a:ext cx="5476875" cy="95250"/>
            </a:xfrm>
            <a:custGeom>
              <a:avLst/>
              <a:gdLst/>
              <a:ahLst/>
              <a:cxnLst/>
              <a:rect l="l" t="t" r="r" b="b"/>
              <a:pathLst>
                <a:path w="5476875" h="9525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5381625" y="0"/>
                  </a:lnTo>
                  <a:cubicBezTo>
                    <a:pt x="5434230" y="0"/>
                    <a:pt x="5476875" y="42645"/>
                    <a:pt x="5476875" y="95250"/>
                  </a:cubicBezTo>
                  <a:lnTo>
                    <a:pt x="5476875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04850" y="1600200"/>
              <a:ext cx="1809750" cy="24765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5338" y="1660525"/>
              <a:ext cx="14350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PRODUCTION READINESS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7992" y="1968500"/>
              <a:ext cx="3267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Enterprise Architecture &amp; Governance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4850" y="2362200"/>
              <a:ext cx="5019675" cy="809625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rgbClr val="E2E8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2488" y="2495550"/>
              <a:ext cx="21180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 Regulatory Compliance Alignment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2488" y="2679700"/>
              <a:ext cx="2918218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Basel III standardized approach and Fundamental Review of the</a:t>
              </a:r>
              <a:b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</a:b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Trading Book (FRTB) compliant loss attribution models.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04850" y="3314700"/>
              <a:ext cx="5019675" cy="809625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rgbClr val="E2E8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2488" y="3448050"/>
              <a:ext cx="22641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 Immutable Audit Trail &amp; Governance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2488" y="3632200"/>
              <a:ext cx="3317490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Every stress run, headline hash, NLP confidence rating, and counterparty</a:t>
              </a:r>
              <a:b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</a:b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delta is persisted with microsecond timestamps for compliance.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4850" y="4267200"/>
              <a:ext cx="5019675" cy="809625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rgbClr val="E2E8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488" y="4400550"/>
              <a:ext cx="20470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3. Turnkey Containerized Reliability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2488" y="4584700"/>
              <a:ext cx="3306243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Autonomous launch with Docker Compose, built-in healthcheck probes,</a:t>
              </a:r>
              <a:b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</a:b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and zero third-party database operational dependencies.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4850" y="5219700"/>
              <a:ext cx="5019675" cy="809625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rgbClr val="E2E8F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2488" y="5353050"/>
              <a:ext cx="20625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4. Explainable AI &amp; Loss Attribution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2488" y="5537200"/>
              <a:ext cx="3177016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'Why Drawer' bridges black-box AI by explicitly displaying underlying</a:t>
              </a:r>
              <a:b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</a:b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economic rationale, beta drivers, and credit downgrade mechanics.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38875" y="1409700"/>
              <a:ext cx="5476875" cy="4810125"/>
            </a:xfrm>
            <a:prstGeom prst="roundRect">
              <a:avLst>
                <a:gd name="adj" fmla="val 1980"/>
              </a:avLst>
            </a:prstGeom>
            <a:solidFill>
              <a:schemeClr val="lt2"/>
            </a:solidFill>
            <a:ln w="14288">
              <a:solidFill>
                <a:srgbClr val="CBD5E1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238875" y="1409700"/>
              <a:ext cx="5476875" cy="95250"/>
            </a:xfrm>
            <a:custGeom>
              <a:avLst/>
              <a:gdLst/>
              <a:ahLst/>
              <a:cxnLst/>
              <a:rect l="l" t="t" r="r" b="b"/>
              <a:pathLst>
                <a:path w="5476875" h="95250">
                  <a:moveTo>
                    <a:pt x="0" y="95250"/>
                  </a:moveTo>
                  <a:cubicBezTo>
                    <a:pt x="0" y="42645"/>
                    <a:pt x="42645" y="0"/>
                    <a:pt x="95250" y="0"/>
                  </a:cubicBezTo>
                  <a:lnTo>
                    <a:pt x="5381625" y="0"/>
                  </a:lnTo>
                  <a:cubicBezTo>
                    <a:pt x="5434230" y="0"/>
                    <a:pt x="5476875" y="42645"/>
                    <a:pt x="5476875" y="95250"/>
                  </a:cubicBezTo>
                  <a:lnTo>
                    <a:pt x="5476875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67475" y="1600200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ECFDF5"/>
            </a:solidFill>
            <a:ln w="9525">
              <a:solidFill>
                <a:srgbClr val="A7F3D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7962" y="1660525"/>
              <a:ext cx="12642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STRATEGIC HORIZONS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0617" y="1968500"/>
              <a:ext cx="35706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Next-Generation Roadmap (Q1-Q3 2027)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7475" y="2362200"/>
              <a:ext cx="5019675" cy="809625"/>
            </a:xfrm>
            <a:prstGeom prst="roundRect">
              <a:avLst>
                <a:gd name="adj" fmla="val 7059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15112" y="2495550"/>
              <a:ext cx="2784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Phase 1: Multi-User Collaboration &amp; War Rooms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5112" y="2679700"/>
              <a:ext cx="2993896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Role-based access control (RBAC), multi-analyst scenario sharing,</a:t>
              </a:r>
              <a:b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</a:b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and live collaborative crisis room annotations.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7475" y="3314700"/>
              <a:ext cx="5019675" cy="809625"/>
            </a:xfrm>
            <a:prstGeom prst="roundRect">
              <a:avLst>
                <a:gd name="adj" fmla="val 7059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15112" y="3448050"/>
              <a:ext cx="27180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Phase 2: Monte Carlo VaR &amp; Expected Shortfall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15112" y="3632200"/>
              <a:ext cx="3299766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Scaling to 10,000-path stochastic simulation for 99% Value at Risk (VaR)</a:t>
              </a:r>
              <a:b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</a:b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and Tail Conditional Expectation across asset classes.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7475" y="4267200"/>
              <a:ext cx="5019675" cy="809625"/>
            </a:xfrm>
            <a:prstGeom prst="roundRect">
              <a:avLst>
                <a:gd name="adj" fmla="val 7059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5112" y="4400550"/>
              <a:ext cx="25005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Phase 3: Copula Dynamic Correlation Stress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5112" y="4584700"/>
              <a:ext cx="3292330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Replacing static sector shocks with dynamic non-linear Clayton/Gumbel</a:t>
              </a:r>
              <a:b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</a:b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copulas capturing asymmetric market tail-dependence.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7475" y="5219700"/>
              <a:ext cx="5019675" cy="809625"/>
            </a:xfrm>
            <a:prstGeom prst="roundRect">
              <a:avLst>
                <a:gd name="adj" fmla="val 7059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15112" y="5353050"/>
              <a:ext cx="23497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Phase 4: Agentic Tail-Risk Auto-Hedging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15112" y="5537200"/>
              <a:ext cx="3240364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Autonomous AI trade recommendations suggesting optimal offsetting</a:t>
              </a:r>
              <a:b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</a:br>
              <a:r>
                <a:rPr lang="en-US" sz="82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index options, CDS, or interest rate futures to neutralize risk.</a:t>
              </a:r>
            </a:p>
          </p:txBody>
        </p:sp>
      </p:grpSp>
      <p:grpSp>
        <p:nvGrpSpPr>
          <p:cNvPr id="50" name="page-footer"/>
          <p:cNvGrpSpPr/>
          <p:nvPr/>
        </p:nvGrpSpPr>
        <p:grpSpPr>
          <a:xfrm>
            <a:off x="471488" y="6429375"/>
            <a:ext cx="11249025" cy="250825"/>
            <a:chOff x="471488" y="6429375"/>
            <a:chExt cx="11249025" cy="250825"/>
          </a:xfrm>
        </p:grpSpPr>
        <p:sp>
          <p:nvSpPr>
            <p:cNvPr id="47" name="Line 47"/>
            <p:cNvSpPr/>
            <p:nvPr/>
          </p:nvSpPr>
          <p:spPr>
            <a:xfrm>
              <a:off x="476250" y="6429375"/>
              <a:ext cx="11239500" cy="9525"/>
            </a:xfrm>
            <a:custGeom>
              <a:avLst/>
              <a:gdLst/>
              <a:ahLst/>
              <a:cxnLst/>
              <a:rect l="l" t="t" r="r" b="b"/>
              <a:pathLst>
                <a:path w="11239500" h="9525">
                  <a:moveTo>
                    <a:pt x="0" y="0"/>
                  </a:moveTo>
                  <a:lnTo>
                    <a:pt x="1123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1488" y="6518275"/>
              <a:ext cx="35611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RiskEngine • Real-Time Portfolio Stress Testing &amp; Risk Analytics Platform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56688" y="6518275"/>
              <a:ext cx="663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Slide 07 / 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risk_engine_summary">
  <a:themeElements>
    <a:clrScheme name="risk_engine_summary">
      <a:dk1>
        <a:srgbClr val="334155"/>
      </a:dk1>
      <a:lt1>
        <a:srgbClr val="F8FAFC"/>
      </a:lt1>
      <a:dk2>
        <a:srgbClr val="1F497D"/>
      </a:dk2>
      <a:lt2>
        <a:srgbClr val="FFFFFF"/>
      </a:lt2>
      <a:accent1>
        <a:srgbClr val="0F172A"/>
      </a:accent1>
      <a:accent2>
        <a:srgbClr val="2563EB"/>
      </a:accent2>
      <a:accent3>
        <a:srgbClr val="059669"/>
      </a:accent3>
      <a:accent4>
        <a:srgbClr val="0F172A"/>
      </a:accent4>
      <a:accent5>
        <a:srgbClr val="0F172A"/>
      </a:accent5>
      <a:accent6>
        <a:srgbClr val="1E293B"/>
      </a:accent6>
      <a:hlink>
        <a:srgbClr val="2563EB"/>
      </a:hlink>
      <a:folHlink>
        <a:srgbClr val="059669"/>
      </a:folHlink>
    </a:clrScheme>
    <a:fontScheme name="risk_engine_summary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isk_engine_summ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isk_engine_summary">
  <a:themeElements>
    <a:clrScheme name="risk_engine_summary">
      <a:dk1>
        <a:srgbClr val="334155"/>
      </a:dk1>
      <a:lt1>
        <a:srgbClr val="F8FAFC"/>
      </a:lt1>
      <a:dk2>
        <a:srgbClr val="1F497D"/>
      </a:dk2>
      <a:lt2>
        <a:srgbClr val="FFFFFF"/>
      </a:lt2>
      <a:accent1>
        <a:srgbClr val="0F172A"/>
      </a:accent1>
      <a:accent2>
        <a:srgbClr val="2563EB"/>
      </a:accent2>
      <a:accent3>
        <a:srgbClr val="059669"/>
      </a:accent3>
      <a:accent4>
        <a:srgbClr val="0F172A"/>
      </a:accent4>
      <a:accent5>
        <a:srgbClr val="0F172A"/>
      </a:accent5>
      <a:accent6>
        <a:srgbClr val="1E293B"/>
      </a:accent6>
      <a:hlink>
        <a:srgbClr val="2563EB"/>
      </a:hlink>
      <a:folHlink>
        <a:srgbClr val="059669"/>
      </a:folHlink>
    </a:clrScheme>
    <a:fontScheme name="risk_engine_summary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isk_engine_summ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2164</Words>
  <Application>Microsoft Office PowerPoint</Application>
  <PresentationFormat>Widescreen</PresentationFormat>
  <Paragraphs>303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JetBrains Mono</vt:lpstr>
      <vt:lpstr>Plus Jakarta Sans</vt:lpstr>
      <vt:lpstr>Segoe UI</vt:lpstr>
      <vt:lpstr>risk_engine_summary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Aryan Yadav</dc:creator>
  <cp:keywords/>
  <dc:description/>
  <cp:lastModifiedBy>Aryan Yadav</cp:lastModifiedBy>
  <cp:revision>3</cp:revision>
  <dcterms:created xsi:type="dcterms:W3CDTF">2026-10-10T09:05:41Z</dcterms:created>
  <dcterms:modified xsi:type="dcterms:W3CDTF">2026-10-10T14:51:17Z</dcterms:modified>
  <cp:category/>
  <cp:contentStatus/>
  <dc:language>en-US</dc:language>
</cp:coreProperties>
</file>